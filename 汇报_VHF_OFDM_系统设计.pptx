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  <p:sldId id="272" r:id="rId23"/>
    <p:sldId id="273" r:id="rId24"/>
    <p:sldId id="274" r:id="rId25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" Target="slide2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563E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E749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3657600"/>
            <a:ext cx="2743200" cy="2743200"/>
          </a:xfrm>
          <a:prstGeom prst="ellipse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371600"/>
            <a:ext cx="548640" cy="4572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1371600"/>
            <a:ext cx="548640" cy="4572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17520" y="1371600"/>
            <a:ext cx="548640" cy="4572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40480" y="1371600"/>
            <a:ext cx="548640" cy="4572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71600"/>
            <a:ext cx="548640" cy="4572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0" y="1371600"/>
            <a:ext cx="548640" cy="4572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371600"/>
            <a:ext cx="548640" cy="4572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0" y="1371600"/>
            <a:ext cx="548640" cy="4572"/>
          </a:xfrm>
          <a:prstGeom prst="rect">
            <a:avLst/>
          </a:prstGeom>
          <a:solidFill>
            <a:srgbClr val="CBD5E1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914400"/>
            <a:ext cx="7680960" cy="329184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1965960"/>
            <a:ext cx="58521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3246120"/>
            <a:ext cx="5852160" cy="0"/>
          </a:xfrm>
          <a:prstGeom prst="line">
            <a:avLst/>
          </a:prstGeom>
          <a:noFill/>
          <a:ln w="6350">
            <a:solidFill>
              <a:srgbClr val="2563E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31520" y="10972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VHF OFDM无线通信系统仿真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移动通信课程设计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第2组</a:t>
            </a:r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</a:t>
            </a:r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军用车载移动信道</a:t>
            </a:r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</a:t>
            </a:r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rot="2700000">
            <a:off x="347472" y="347472"/>
            <a:ext cx="219456" cy="219456"/>
          </a:xfrm>
          <a:prstGeom prst="rect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2700000">
            <a:off x="347472" y="4576572"/>
            <a:ext cx="219456" cy="219456"/>
          </a:xfrm>
          <a:prstGeom prst="rect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8577072" y="347472"/>
            <a:ext cx="219456" cy="219456"/>
          </a:xfrm>
          <a:prstGeom prst="rect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8577072" y="4576572"/>
            <a:ext cx="219456" cy="219456"/>
          </a:xfrm>
          <a:prstGeom prst="rect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60704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53312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645920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38528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31136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23744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816352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108960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01568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94176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86784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279392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64608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57216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449824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742432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35040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27648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20256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912864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05472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98080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790688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83296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375904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68512" y="4892040"/>
            <a:ext cx="182880" cy="13716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系统框图 — 导航总览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点击框图查看各模块详细说明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097280" cy="548640"/>
          </a:xfrm>
          <a:prstGeom prst="rect">
            <a:avLst/>
          </a:prstGeom>
          <a:solidFill>
            <a:srgbClr val="2563EB"/>
          </a:solidFill>
          <a:ln w="635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信源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4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54480" y="1403604"/>
            <a:ext cx="91440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Shape 8"/>
          <p:cNvSpPr/>
          <p:nvPr/>
        </p:nvSpPr>
        <p:spPr>
          <a:xfrm>
            <a:off x="1609344" y="1380744"/>
            <a:ext cx="36576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1143000"/>
            <a:ext cx="1097280" cy="548640"/>
          </a:xfrm>
          <a:prstGeom prst="rect">
            <a:avLst/>
          </a:prstGeom>
          <a:solidFill>
            <a:srgbClr val="2563EB"/>
          </a:solidFill>
          <a:ln w="635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1143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CRC-16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15270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4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2743200" y="1403604"/>
            <a:ext cx="91440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8064" y="1380744"/>
            <a:ext cx="36576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1143000"/>
            <a:ext cx="1097280" cy="548640"/>
          </a:xfrm>
          <a:prstGeom prst="rect">
            <a:avLst/>
          </a:prstGeom>
          <a:solidFill>
            <a:srgbClr val="2563EB"/>
          </a:solidFill>
          <a:ln w="635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34640" y="1143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卷积编码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34640" y="15270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5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3931920" y="1403604"/>
            <a:ext cx="91440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Shape 18"/>
          <p:cNvSpPr/>
          <p:nvPr/>
        </p:nvSpPr>
        <p:spPr>
          <a:xfrm>
            <a:off x="3986784" y="1380744"/>
            <a:ext cx="36576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Shape 19"/>
          <p:cNvSpPr/>
          <p:nvPr/>
        </p:nvSpPr>
        <p:spPr>
          <a:xfrm>
            <a:off x="4023360" y="1143000"/>
            <a:ext cx="1097280" cy="548640"/>
          </a:xfrm>
          <a:prstGeom prst="rect">
            <a:avLst/>
          </a:prstGeom>
          <a:solidFill>
            <a:srgbClr val="2563EB"/>
          </a:solidFill>
          <a:ln w="635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023360" y="1143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交织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0" y="15270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6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5120640" y="1403604"/>
            <a:ext cx="91440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5" name="Shape 23"/>
          <p:cNvSpPr/>
          <p:nvPr/>
        </p:nvSpPr>
        <p:spPr>
          <a:xfrm>
            <a:off x="5175504" y="1380744"/>
            <a:ext cx="36576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2080" y="1143000"/>
            <a:ext cx="1097280" cy="548640"/>
          </a:xfrm>
          <a:prstGeom prst="rect">
            <a:avLst/>
          </a:prstGeom>
          <a:solidFill>
            <a:srgbClr val="2563EB"/>
          </a:solidFill>
          <a:ln w="635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12080" y="1143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符号调制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12080" y="15270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7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6309360" y="1403604"/>
            <a:ext cx="91440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64224" y="1380744"/>
            <a:ext cx="36576" cy="7315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0" y="1143000"/>
            <a:ext cx="1097280" cy="548640"/>
          </a:xfrm>
          <a:prstGeom prst="rect">
            <a:avLst/>
          </a:prstGeom>
          <a:solidFill>
            <a:srgbClr val="1D4ED8"/>
          </a:solidFill>
          <a:ln w="635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114300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OFDM调制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0" y="15270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8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2926080" y="2148840"/>
            <a:ext cx="3291840" cy="640080"/>
          </a:xfrm>
          <a:prstGeom prst="rect">
            <a:avLst/>
          </a:prstGeom>
          <a:solidFill>
            <a:srgbClr val="EA580C"/>
          </a:solidFill>
          <a:ln w="1016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2608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VHF 车载移动信道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26080" y="255117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12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935724" y="1691640"/>
            <a:ext cx="27432" cy="457200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38" name="Shape 36"/>
          <p:cNvSpPr/>
          <p:nvPr/>
        </p:nvSpPr>
        <p:spPr>
          <a:xfrm>
            <a:off x="1220724" y="2788920"/>
            <a:ext cx="27432" cy="457200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39" name="Shape 37"/>
          <p:cNvSpPr/>
          <p:nvPr/>
        </p:nvSpPr>
        <p:spPr>
          <a:xfrm>
            <a:off x="6949440" y="2057400"/>
            <a:ext cx="-5715000" cy="13716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" y="3246120"/>
            <a:ext cx="1005840" cy="594360"/>
          </a:xfrm>
          <a:prstGeom prst="rect">
            <a:avLst/>
          </a:prstGeom>
          <a:solidFill>
            <a:srgbClr val="059669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85800" y="32461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85800" y="364845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13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1691640" y="3529584"/>
            <a:ext cx="274320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4" name="Shape 42"/>
          <p:cNvSpPr/>
          <p:nvPr/>
        </p:nvSpPr>
        <p:spPr>
          <a:xfrm>
            <a:off x="2286000" y="3246120"/>
            <a:ext cx="1234440" cy="594360"/>
          </a:xfrm>
          <a:prstGeom prst="rect">
            <a:avLst/>
          </a:prstGeom>
          <a:solidFill>
            <a:srgbClr val="059669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28600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信道估计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与均衡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286000" y="36484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13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3520440" y="3529584"/>
            <a:ext cx="274320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8" name="Shape 46"/>
          <p:cNvSpPr/>
          <p:nvPr/>
        </p:nvSpPr>
        <p:spPr>
          <a:xfrm>
            <a:off x="4069080" y="3246120"/>
            <a:ext cx="1325880" cy="594360"/>
          </a:xfrm>
          <a:prstGeom prst="rect">
            <a:avLst/>
          </a:prstGeom>
          <a:solidFill>
            <a:srgbClr val="059669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069080" y="3246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解调/解交织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/译码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069080" y="36484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14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5394960" y="3529584"/>
            <a:ext cx="274320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0" y="3246120"/>
            <a:ext cx="1234440" cy="594360"/>
          </a:xfrm>
          <a:prstGeom prst="rect">
            <a:avLst/>
          </a:prstGeom>
          <a:solidFill>
            <a:srgbClr val="059669"/>
          </a:solidFill>
          <a:ln w="63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86400" y="3246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BER统计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486400" y="36484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14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27432" y="1143000"/>
            <a:ext cx="27432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" y="1143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发射端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7432" y="2148840"/>
            <a:ext cx="274320" cy="6400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8" name="Text 56"/>
          <p:cNvSpPr/>
          <p:nvPr/>
        </p:nvSpPr>
        <p:spPr>
          <a:xfrm>
            <a:off x="27432" y="21488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信道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7432" y="3246120"/>
            <a:ext cx="274320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" y="324612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接收端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2" name="Shape 60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返回首页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系统参数总览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Parameters Overview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信号带宽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载波频率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晶振稳定度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ppm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信道模型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军用车载移动信道（Military Vehicular Mobile）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车速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km/h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5-path, 时延 [0, 0.2, 0.5, 1.0, 2.0] μs, 功率 [0, -3, -6, -9, -12]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FFT大小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活跃子载波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子载波间隔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 kHz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CP长度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samples (8 μs)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符号时长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 μs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调制方式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QPSK / 16QAM / 64QAM（可切换）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0" y="1005840"/>
            <a:ext cx="2743200" cy="1234440"/>
          </a:xfrm>
          <a:prstGeom prst="rect">
            <a:avLst/>
          </a:prstGeom>
          <a:solidFill>
            <a:srgbClr val="132E5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0" y="1005840"/>
            <a:ext cx="36576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关键特性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带宽 1 MHz，支持高速数据传输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512-FFT OFDM，可抵抗多径干扰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M-QAM可切换，灵活调整速率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军用车载信道，真实环境仿真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0" y="2423160"/>
            <a:ext cx="2743200" cy="1417320"/>
          </a:xfrm>
          <a:prstGeom prst="rect">
            <a:avLst/>
          </a:prstGeom>
          <a:solidFill>
            <a:srgbClr val="132E5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0" y="2423160"/>
            <a:ext cx="36576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设计说明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35040" y="2788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MHz带宽适合VHF频段分配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0.1 ppm晶振确保频偏在 10 Hz以内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CP长度 8 μs &gt; 最大时延 2 μs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 km/h → 多普勒频移≈ 5.56 Hz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慢衰落信道（相干时间 &gt;&gt;帧周期）</a:t>
            </a:r>
            <a:endParaRPr lang="en-US" sz="900" dirty="0"/>
          </a:p>
        </p:txBody>
      </p:sp>
      <p:sp>
        <p:nvSpPr>
          <p:cNvPr id="15" name="Shape 12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信源生成与CRC-16编码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均匀随机比特流 + CRC循环冗余校验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" cy="3566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信源生成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0972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均匀随机比特流（Uniform Random Bits）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长度：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10,000 bits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比特统计：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2560320"/>
            <a:ext cx="13716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86000" y="2560320"/>
            <a:ext cx="13716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228600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帧结构：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10帧 × (1024 data + 16 CRC) = 10,400 bits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冗余率：16/1024 ≈ 1.56%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1005840"/>
            <a:ext cx="4023360" cy="356616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54880" y="1005840"/>
            <a:ext cx="36576" cy="3566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Shape 19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CRC-16-CCITT编码</a:t>
            </a:r>
            <a:endParaRPr lang="en-US" sz="16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320040" cy="32004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00200"/>
          <a:ext cx="3474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生成多项式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0x1021 (CRC-16-CCITT)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初始值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CRC长度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数据/帧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bits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总帧数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总输入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10,400 bits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</a:tbl>
          </a:graphicData>
        </a:graphic>
      </p:graphicFrame>
      <p:sp>
        <p:nvSpPr>
          <p:cNvPr id="26" name="Text 21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帧结构可视化：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029200" y="3657600"/>
            <a:ext cx="23774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3"/>
          <p:cNvSpPr/>
          <p:nvPr/>
        </p:nvSpPr>
        <p:spPr>
          <a:xfrm>
            <a:off x="50292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1024 bits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498080" y="3657600"/>
            <a:ext cx="100584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0" name="Text 25"/>
          <p:cNvSpPr/>
          <p:nvPr/>
        </p:nvSpPr>
        <p:spPr>
          <a:xfrm>
            <a:off x="749808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bits</a:t>
            </a:r>
            <a:endParaRPr lang="en-US" sz="800" dirty="0"/>
          </a:p>
        </p:txBody>
      </p:sp>
      <p:sp>
        <p:nvSpPr>
          <p:cNvPr id="31" name="Shape 26">
            <a:hlinkClick r:id="rId3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信道编码 — 卷积码（Convolutional Code）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K=7, R=1/2, 生成多项式 [171, 133]₈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36576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4023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编码参数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3474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约束长度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码率 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生成多项式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g₀=171₈, g₁=133₈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g₀二进制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g₁二进制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1011011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输入长度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10,400 bits (10帧)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输出长度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20,800 bits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译码算法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维特比（Viterbi）硬判决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6576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笃纹结构示意图（Trellis）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212080" y="1645920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1645920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40880" y="1645920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55280" y="1645920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16367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5212080" y="1901952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26480" y="1901952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40880" y="1901952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55280" y="1901952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18928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5212080" y="2157984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26480" y="2157984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40880" y="2157984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55280" y="2157984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21488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5212080" y="2414016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26480" y="2414016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040880" y="2414016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2414016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0" y="24048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011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5212080" y="2670048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26480" y="2670048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040880" y="2670048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955280" y="2670048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26609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5212080" y="2926080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26480" y="2926080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040880" y="2926080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55280" y="2926080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0" y="29169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5212080" y="3182112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26480" y="3182112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040880" y="3182112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955280" y="3182112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54880" y="31729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212080" y="3438144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26480" y="3438144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40880" y="3438144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955280" y="3438144"/>
            <a:ext cx="164592" cy="164592"/>
          </a:xfrm>
          <a:prstGeom prst="ellipse">
            <a:avLst/>
          </a:prstGeom>
          <a:solidFill>
            <a:srgbClr val="EBF0F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754880" y="3429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650" dirty="0"/>
          </a:p>
        </p:txBody>
      </p:sp>
      <p:sp>
        <p:nvSpPr>
          <p:cNvPr id="55" name="Shape 52"/>
          <p:cNvSpPr/>
          <p:nvPr/>
        </p:nvSpPr>
        <p:spPr>
          <a:xfrm>
            <a:off x="5376672" y="1728216"/>
            <a:ext cx="914400" cy="-45720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376672" y="1728216"/>
            <a:ext cx="914400" cy="457200"/>
          </a:xfrm>
          <a:prstGeom prst="line">
            <a:avLst/>
          </a:prstGeom>
          <a:noFill/>
          <a:ln w="6350">
            <a:solidFill>
              <a:srgbClr val="0E749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291072" y="2240280"/>
            <a:ext cx="914400" cy="-45720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291072" y="2240280"/>
            <a:ext cx="914400" cy="457200"/>
          </a:xfrm>
          <a:prstGeom prst="line">
            <a:avLst/>
          </a:prstGeom>
          <a:noFill/>
          <a:ln w="6350">
            <a:solidFill>
              <a:srgbClr val="0E749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205472" y="2752344"/>
            <a:ext cx="914400" cy="-45720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205472" y="2752344"/>
            <a:ext cx="914400" cy="457200"/>
          </a:xfrm>
          <a:prstGeom prst="line">
            <a:avLst/>
          </a:prstGeom>
          <a:noFill/>
          <a:ln w="6350">
            <a:solidFill>
              <a:srgbClr val="0E749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119872" y="3264408"/>
            <a:ext cx="914400" cy="-45720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119872" y="3264408"/>
            <a:ext cx="914400" cy="457200"/>
          </a:xfrm>
          <a:prstGeom prst="line">
            <a:avLst/>
          </a:prstGeom>
          <a:noFill/>
          <a:ln w="6350">
            <a:solidFill>
              <a:srgbClr val="0E749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02920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—— </a:t>
            </a:r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输入=0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</a:t>
            </a:r>
            <a:pPr indent="0" marL="0">
              <a:buNone/>
            </a:pPr>
            <a:r>
              <a:rPr lang="en-US" sz="9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—— </a:t>
            </a:r>
            <a:pPr indent="0" marL="0">
              <a:buNone/>
            </a:pPr>
            <a:r>
              <a:rPr lang="en-US" sz="9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输入=1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502920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K=7，共 2⁶⁻¹ = 64个状态（图为 K=3简化示意）</a:t>
            </a:r>
            <a:endParaRPr lang="en-US" sz="900" dirty="0"/>
          </a:p>
        </p:txBody>
      </p:sp>
      <p:sp>
        <p:nvSpPr>
          <p:cNvPr id="65" name="Shape 62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随机交织（Random Interleaving）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将突发错误转化为随机孤立错误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389120" cy="201168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43891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交织过程可视化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交织前（突发错误）：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4128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6152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408176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792224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1984248" y="1737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2176272" y="1737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2368296" y="1737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0320" y="1737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2752344" y="1737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2944368" y="1737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3136392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3328416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0440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Shape 25"/>
          <p:cNvSpPr/>
          <p:nvPr/>
        </p:nvSpPr>
        <p:spPr>
          <a:xfrm>
            <a:off x="3712464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Shape 26"/>
          <p:cNvSpPr/>
          <p:nvPr/>
        </p:nvSpPr>
        <p:spPr>
          <a:xfrm>
            <a:off x="3904488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4096512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Shape 28"/>
          <p:cNvSpPr/>
          <p:nvPr/>
        </p:nvSpPr>
        <p:spPr>
          <a:xfrm>
            <a:off x="4288536" y="1737360"/>
            <a:ext cx="173736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2103120" y="2057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突发错误块（~200子载波）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920240" y="228600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随机重排 rng(42)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2606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交织后（随机孤立错误）：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Shape 34"/>
          <p:cNvSpPr/>
          <p:nvPr/>
        </p:nvSpPr>
        <p:spPr>
          <a:xfrm>
            <a:off x="832104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4128" y="2880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1216152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" name="Shape 37"/>
          <p:cNvSpPr/>
          <p:nvPr/>
        </p:nvSpPr>
        <p:spPr>
          <a:xfrm>
            <a:off x="1408176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Shape 38"/>
          <p:cNvSpPr/>
          <p:nvPr/>
        </p:nvSpPr>
        <p:spPr>
          <a:xfrm>
            <a:off x="1600200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Shape 39"/>
          <p:cNvSpPr/>
          <p:nvPr/>
        </p:nvSpPr>
        <p:spPr>
          <a:xfrm>
            <a:off x="1792224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" name="Shape 40"/>
          <p:cNvSpPr/>
          <p:nvPr/>
        </p:nvSpPr>
        <p:spPr>
          <a:xfrm>
            <a:off x="1984248" y="2880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Shape 41"/>
          <p:cNvSpPr/>
          <p:nvPr/>
        </p:nvSpPr>
        <p:spPr>
          <a:xfrm>
            <a:off x="2176272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Shape 42"/>
          <p:cNvSpPr/>
          <p:nvPr/>
        </p:nvSpPr>
        <p:spPr>
          <a:xfrm>
            <a:off x="2368296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Shape 43"/>
          <p:cNvSpPr/>
          <p:nvPr/>
        </p:nvSpPr>
        <p:spPr>
          <a:xfrm>
            <a:off x="2560320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" name="Shape 44"/>
          <p:cNvSpPr/>
          <p:nvPr/>
        </p:nvSpPr>
        <p:spPr>
          <a:xfrm>
            <a:off x="2752344" y="2880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Shape 45"/>
          <p:cNvSpPr/>
          <p:nvPr/>
        </p:nvSpPr>
        <p:spPr>
          <a:xfrm>
            <a:off x="2944368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8" name="Shape 46"/>
          <p:cNvSpPr/>
          <p:nvPr/>
        </p:nvSpPr>
        <p:spPr>
          <a:xfrm>
            <a:off x="3136392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9" name="Shape 47"/>
          <p:cNvSpPr/>
          <p:nvPr/>
        </p:nvSpPr>
        <p:spPr>
          <a:xfrm>
            <a:off x="3328416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0" name="Shape 48"/>
          <p:cNvSpPr/>
          <p:nvPr/>
        </p:nvSpPr>
        <p:spPr>
          <a:xfrm>
            <a:off x="3520440" y="2880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1" name="Shape 49"/>
          <p:cNvSpPr/>
          <p:nvPr/>
        </p:nvSpPr>
        <p:spPr>
          <a:xfrm>
            <a:off x="3712464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2" name="Shape 50"/>
          <p:cNvSpPr/>
          <p:nvPr/>
        </p:nvSpPr>
        <p:spPr>
          <a:xfrm>
            <a:off x="3904488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3" name="Shape 51"/>
          <p:cNvSpPr/>
          <p:nvPr/>
        </p:nvSpPr>
        <p:spPr>
          <a:xfrm>
            <a:off x="4096512" y="2880360"/>
            <a:ext cx="173736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Shape 52"/>
          <p:cNvSpPr/>
          <p:nvPr/>
        </p:nvSpPr>
        <p:spPr>
          <a:xfrm>
            <a:off x="4288536" y="2880360"/>
            <a:ext cx="173736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5" name="Shape 53"/>
          <p:cNvSpPr/>
          <p:nvPr/>
        </p:nvSpPr>
        <p:spPr>
          <a:xfrm>
            <a:off x="5120640" y="1005840"/>
            <a:ext cx="3657600" cy="201168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20640" y="1005840"/>
            <a:ext cx="36576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7" name="Text 55"/>
          <p:cNvSpPr/>
          <p:nvPr/>
        </p:nvSpPr>
        <p:spPr>
          <a:xfrm>
            <a:off x="530352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原理说明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303520" y="14630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随机置换：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使用 rng(42) 固定种子，确保可重复性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全帧置换：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整个帧内跨位置随机交换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目的：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频率选择性衰落会导致连续子载波上的突发错误。交织后错误被打散，卷积码可以有效纠正。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3291840"/>
            <a:ext cx="8412480" cy="109728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3291840"/>
            <a:ext cx="36576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关键参数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随机种子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rng(42)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可重复性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置换范围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全帧交织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跨位置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错误转化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突发→随机孤立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适配卷积码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63" name="Shape 60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符号调制 — QPSK / 16QAM / 64QAM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支持三种调制方式可切换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3657600"/>
          </a:xfrm>
          <a:prstGeom prst="rect">
            <a:avLst/>
          </a:prstGeom>
          <a:solidFill>
            <a:srgbClr val="EBF0F5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QPSK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2825496"/>
            <a:ext cx="21945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1773936" y="1737360"/>
            <a:ext cx="18288" cy="21945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2350008" y="212140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212140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" y="34015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2350008" y="340156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761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09928" y="1600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bits/符号: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bits/OFDM符号: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4点星座，低 SNR下可靠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051560"/>
            <a:ext cx="2651760" cy="3657600"/>
          </a:xfrm>
          <a:prstGeom prst="rect">
            <a:avLst/>
          </a:prstGeom>
          <a:solidFill>
            <a:srgbClr val="EBF0F5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05156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16QAM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520440" y="2825496"/>
            <a:ext cx="21945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4608576" y="1737360"/>
            <a:ext cx="18288" cy="21945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3799332" y="352501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Shape 24"/>
          <p:cNvSpPr/>
          <p:nvPr/>
        </p:nvSpPr>
        <p:spPr>
          <a:xfrm>
            <a:off x="4302252" y="352501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5172" y="352501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8092" y="352501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3799332" y="302209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4302252" y="302209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5172" y="302209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5308092" y="302209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3799332" y="25191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Shape 32"/>
          <p:cNvSpPr/>
          <p:nvPr/>
        </p:nvSpPr>
        <p:spPr>
          <a:xfrm>
            <a:off x="4302252" y="25191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5172" y="25191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5308092" y="251917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3799332" y="201625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>
          <a:xfrm>
            <a:off x="4302252" y="201625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Shape 37"/>
          <p:cNvSpPr/>
          <p:nvPr/>
        </p:nvSpPr>
        <p:spPr>
          <a:xfrm>
            <a:off x="4805172" y="201625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Shape 38"/>
          <p:cNvSpPr/>
          <p:nvPr/>
        </p:nvSpPr>
        <p:spPr>
          <a:xfrm>
            <a:off x="5308092" y="201625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577840" y="2761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44568" y="1600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7472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bits/符号: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7472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bits/OFDM符号: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7472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16点星座，速率与可靠性平衡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1051560"/>
            <a:ext cx="2651760" cy="3657600"/>
          </a:xfrm>
          <a:prstGeom prst="rect">
            <a:avLst/>
          </a:prstGeom>
          <a:solidFill>
            <a:srgbClr val="EBF0F5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10515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64QAM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355080" y="2825496"/>
            <a:ext cx="219456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0" name="Shape 48"/>
          <p:cNvSpPr/>
          <p:nvPr/>
        </p:nvSpPr>
        <p:spPr>
          <a:xfrm>
            <a:off x="7443216" y="1737360"/>
            <a:ext cx="18288" cy="21945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Shape 49"/>
          <p:cNvSpPr/>
          <p:nvPr/>
        </p:nvSpPr>
        <p:spPr>
          <a:xfrm>
            <a:off x="6711696" y="350215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2" name="Shape 50"/>
          <p:cNvSpPr/>
          <p:nvPr/>
        </p:nvSpPr>
        <p:spPr>
          <a:xfrm>
            <a:off x="6912864" y="350215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3" name="Shape 51"/>
          <p:cNvSpPr/>
          <p:nvPr/>
        </p:nvSpPr>
        <p:spPr>
          <a:xfrm>
            <a:off x="7114032" y="350215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4" name="Shape 52"/>
          <p:cNvSpPr/>
          <p:nvPr/>
        </p:nvSpPr>
        <p:spPr>
          <a:xfrm>
            <a:off x="7315200" y="350215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5" name="Shape 53"/>
          <p:cNvSpPr/>
          <p:nvPr/>
        </p:nvSpPr>
        <p:spPr>
          <a:xfrm>
            <a:off x="7516368" y="350215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6" name="Shape 54"/>
          <p:cNvSpPr/>
          <p:nvPr/>
        </p:nvSpPr>
        <p:spPr>
          <a:xfrm>
            <a:off x="7717536" y="350215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7" name="Shape 55"/>
          <p:cNvSpPr/>
          <p:nvPr/>
        </p:nvSpPr>
        <p:spPr>
          <a:xfrm>
            <a:off x="7918704" y="350215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8" name="Shape 56"/>
          <p:cNvSpPr/>
          <p:nvPr/>
        </p:nvSpPr>
        <p:spPr>
          <a:xfrm>
            <a:off x="8119872" y="350215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9" name="Shape 57"/>
          <p:cNvSpPr/>
          <p:nvPr/>
        </p:nvSpPr>
        <p:spPr>
          <a:xfrm>
            <a:off x="6711696" y="330098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0" name="Shape 58"/>
          <p:cNvSpPr/>
          <p:nvPr/>
        </p:nvSpPr>
        <p:spPr>
          <a:xfrm>
            <a:off x="6912864" y="330098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1" name="Shape 59"/>
          <p:cNvSpPr/>
          <p:nvPr/>
        </p:nvSpPr>
        <p:spPr>
          <a:xfrm>
            <a:off x="7114032" y="330098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2" name="Shape 60"/>
          <p:cNvSpPr/>
          <p:nvPr/>
        </p:nvSpPr>
        <p:spPr>
          <a:xfrm>
            <a:off x="7315200" y="330098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3" name="Shape 61"/>
          <p:cNvSpPr/>
          <p:nvPr/>
        </p:nvSpPr>
        <p:spPr>
          <a:xfrm>
            <a:off x="7516368" y="330098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4" name="Shape 62"/>
          <p:cNvSpPr/>
          <p:nvPr/>
        </p:nvSpPr>
        <p:spPr>
          <a:xfrm>
            <a:off x="7717536" y="330098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5" name="Shape 63"/>
          <p:cNvSpPr/>
          <p:nvPr/>
        </p:nvSpPr>
        <p:spPr>
          <a:xfrm>
            <a:off x="7918704" y="330098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6" name="Shape 64"/>
          <p:cNvSpPr/>
          <p:nvPr/>
        </p:nvSpPr>
        <p:spPr>
          <a:xfrm>
            <a:off x="8119872" y="330098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7" name="Shape 65"/>
          <p:cNvSpPr/>
          <p:nvPr/>
        </p:nvSpPr>
        <p:spPr>
          <a:xfrm>
            <a:off x="6711696" y="309981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8" name="Shape 66"/>
          <p:cNvSpPr/>
          <p:nvPr/>
        </p:nvSpPr>
        <p:spPr>
          <a:xfrm>
            <a:off x="6912864" y="309981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9" name="Shape 67"/>
          <p:cNvSpPr/>
          <p:nvPr/>
        </p:nvSpPr>
        <p:spPr>
          <a:xfrm>
            <a:off x="7114032" y="309981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0" name="Shape 68"/>
          <p:cNvSpPr/>
          <p:nvPr/>
        </p:nvSpPr>
        <p:spPr>
          <a:xfrm>
            <a:off x="7315200" y="309981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1" name="Shape 69"/>
          <p:cNvSpPr/>
          <p:nvPr/>
        </p:nvSpPr>
        <p:spPr>
          <a:xfrm>
            <a:off x="7516368" y="309981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2" name="Shape 70"/>
          <p:cNvSpPr/>
          <p:nvPr/>
        </p:nvSpPr>
        <p:spPr>
          <a:xfrm>
            <a:off x="7717536" y="309981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3" name="Shape 71"/>
          <p:cNvSpPr/>
          <p:nvPr/>
        </p:nvSpPr>
        <p:spPr>
          <a:xfrm>
            <a:off x="7918704" y="309981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4" name="Shape 72"/>
          <p:cNvSpPr/>
          <p:nvPr/>
        </p:nvSpPr>
        <p:spPr>
          <a:xfrm>
            <a:off x="8119872" y="309981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5" name="Shape 73"/>
          <p:cNvSpPr/>
          <p:nvPr/>
        </p:nvSpPr>
        <p:spPr>
          <a:xfrm>
            <a:off x="6711696" y="2898648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6" name="Shape 74"/>
          <p:cNvSpPr/>
          <p:nvPr/>
        </p:nvSpPr>
        <p:spPr>
          <a:xfrm>
            <a:off x="6912864" y="2898648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7" name="Shape 75"/>
          <p:cNvSpPr/>
          <p:nvPr/>
        </p:nvSpPr>
        <p:spPr>
          <a:xfrm>
            <a:off x="7114032" y="2898648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8" name="Shape 76"/>
          <p:cNvSpPr/>
          <p:nvPr/>
        </p:nvSpPr>
        <p:spPr>
          <a:xfrm>
            <a:off x="7315200" y="2898648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9" name="Shape 77"/>
          <p:cNvSpPr/>
          <p:nvPr/>
        </p:nvSpPr>
        <p:spPr>
          <a:xfrm>
            <a:off x="7516368" y="2898648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0" name="Shape 78"/>
          <p:cNvSpPr/>
          <p:nvPr/>
        </p:nvSpPr>
        <p:spPr>
          <a:xfrm>
            <a:off x="7717536" y="2898648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1" name="Shape 79"/>
          <p:cNvSpPr/>
          <p:nvPr/>
        </p:nvSpPr>
        <p:spPr>
          <a:xfrm>
            <a:off x="7918704" y="2898648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2" name="Shape 80"/>
          <p:cNvSpPr/>
          <p:nvPr/>
        </p:nvSpPr>
        <p:spPr>
          <a:xfrm>
            <a:off x="8119872" y="2898648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3" name="Shape 81"/>
          <p:cNvSpPr/>
          <p:nvPr/>
        </p:nvSpPr>
        <p:spPr>
          <a:xfrm>
            <a:off x="6711696" y="269748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4" name="Shape 82"/>
          <p:cNvSpPr/>
          <p:nvPr/>
        </p:nvSpPr>
        <p:spPr>
          <a:xfrm>
            <a:off x="6912864" y="269748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5" name="Shape 83"/>
          <p:cNvSpPr/>
          <p:nvPr/>
        </p:nvSpPr>
        <p:spPr>
          <a:xfrm>
            <a:off x="7114032" y="269748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6" name="Shape 84"/>
          <p:cNvSpPr/>
          <p:nvPr/>
        </p:nvSpPr>
        <p:spPr>
          <a:xfrm>
            <a:off x="7315200" y="269748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7" name="Shape 85"/>
          <p:cNvSpPr/>
          <p:nvPr/>
        </p:nvSpPr>
        <p:spPr>
          <a:xfrm>
            <a:off x="7516368" y="269748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8" name="Shape 86"/>
          <p:cNvSpPr/>
          <p:nvPr/>
        </p:nvSpPr>
        <p:spPr>
          <a:xfrm>
            <a:off x="7717536" y="269748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9" name="Shape 87"/>
          <p:cNvSpPr/>
          <p:nvPr/>
        </p:nvSpPr>
        <p:spPr>
          <a:xfrm>
            <a:off x="7918704" y="269748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0" name="Shape 88"/>
          <p:cNvSpPr/>
          <p:nvPr/>
        </p:nvSpPr>
        <p:spPr>
          <a:xfrm>
            <a:off x="8119872" y="2697480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1" name="Shape 89"/>
          <p:cNvSpPr/>
          <p:nvPr/>
        </p:nvSpPr>
        <p:spPr>
          <a:xfrm>
            <a:off x="6711696" y="249631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2" name="Shape 90"/>
          <p:cNvSpPr/>
          <p:nvPr/>
        </p:nvSpPr>
        <p:spPr>
          <a:xfrm>
            <a:off x="6912864" y="249631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3" name="Shape 91"/>
          <p:cNvSpPr/>
          <p:nvPr/>
        </p:nvSpPr>
        <p:spPr>
          <a:xfrm>
            <a:off x="7114032" y="249631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4" name="Shape 92"/>
          <p:cNvSpPr/>
          <p:nvPr/>
        </p:nvSpPr>
        <p:spPr>
          <a:xfrm>
            <a:off x="7315200" y="249631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5" name="Shape 93"/>
          <p:cNvSpPr/>
          <p:nvPr/>
        </p:nvSpPr>
        <p:spPr>
          <a:xfrm>
            <a:off x="7516368" y="249631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6" name="Shape 94"/>
          <p:cNvSpPr/>
          <p:nvPr/>
        </p:nvSpPr>
        <p:spPr>
          <a:xfrm>
            <a:off x="7717536" y="249631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7" name="Shape 95"/>
          <p:cNvSpPr/>
          <p:nvPr/>
        </p:nvSpPr>
        <p:spPr>
          <a:xfrm>
            <a:off x="7918704" y="249631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8" name="Shape 96"/>
          <p:cNvSpPr/>
          <p:nvPr/>
        </p:nvSpPr>
        <p:spPr>
          <a:xfrm>
            <a:off x="8119872" y="2496312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9" name="Shape 97"/>
          <p:cNvSpPr/>
          <p:nvPr/>
        </p:nvSpPr>
        <p:spPr>
          <a:xfrm>
            <a:off x="6711696" y="229514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0" name="Shape 98"/>
          <p:cNvSpPr/>
          <p:nvPr/>
        </p:nvSpPr>
        <p:spPr>
          <a:xfrm>
            <a:off x="6912864" y="229514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1" name="Shape 99"/>
          <p:cNvSpPr/>
          <p:nvPr/>
        </p:nvSpPr>
        <p:spPr>
          <a:xfrm>
            <a:off x="7114032" y="229514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315200" y="229514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516368" y="229514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717536" y="229514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918704" y="229514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119872" y="2295144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711696" y="209397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912864" y="209397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114032" y="209397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315200" y="209397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516368" y="209397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717536" y="209397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7918704" y="209397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119872" y="2093976"/>
            <a:ext cx="54864" cy="548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5" name="Text 113"/>
          <p:cNvSpPr/>
          <p:nvPr/>
        </p:nvSpPr>
        <p:spPr>
          <a:xfrm>
            <a:off x="8412480" y="2761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7379208" y="1600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630936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bits/符号: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630936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bits/OFDM符号: </a:t>
            </a:r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630936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64点星座，高速率，需高 SNR</a:t>
            </a:r>
            <a:endParaRPr lang="en-US" sz="900" dirty="0"/>
          </a:p>
        </p:txBody>
      </p:sp>
      <p:sp>
        <p:nvSpPr>
          <p:cNvPr id="120" name="Shape 118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OFDM子载波分配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512-FFT 频域布局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8288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36576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 (512 bins)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13430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Shape 8"/>
          <p:cNvSpPr/>
          <p:nvPr/>
        </p:nvSpPr>
        <p:spPr>
          <a:xfrm>
            <a:off x="33431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4857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6284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7711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91388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05658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1992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3419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4846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273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700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9127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554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1981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408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4835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262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689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116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0543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1970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397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824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251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7678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105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532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1959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3386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4812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6239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7666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90938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5208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947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374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801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6228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655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082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0509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1936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3363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4790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6217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7644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9071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0498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1925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3352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779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06206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7633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9060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10487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914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13341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7" name="Shape 65"/>
          <p:cNvSpPr/>
          <p:nvPr/>
        </p:nvSpPr>
        <p:spPr>
          <a:xfrm>
            <a:off x="114767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8" name="Shape 66"/>
          <p:cNvSpPr/>
          <p:nvPr/>
        </p:nvSpPr>
        <p:spPr>
          <a:xfrm>
            <a:off x="116194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9" name="Shape 67"/>
          <p:cNvSpPr/>
          <p:nvPr/>
        </p:nvSpPr>
        <p:spPr>
          <a:xfrm>
            <a:off x="117621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0" name="Shape 68"/>
          <p:cNvSpPr/>
          <p:nvPr/>
        </p:nvSpPr>
        <p:spPr>
          <a:xfrm>
            <a:off x="119048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1" name="Shape 69"/>
          <p:cNvSpPr/>
          <p:nvPr/>
        </p:nvSpPr>
        <p:spPr>
          <a:xfrm>
            <a:off x="120475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2" name="Shape 70"/>
          <p:cNvSpPr/>
          <p:nvPr/>
        </p:nvSpPr>
        <p:spPr>
          <a:xfrm>
            <a:off x="121902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3" name="Shape 71"/>
          <p:cNvSpPr/>
          <p:nvPr/>
        </p:nvSpPr>
        <p:spPr>
          <a:xfrm>
            <a:off x="123329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4" name="Shape 72"/>
          <p:cNvSpPr/>
          <p:nvPr/>
        </p:nvSpPr>
        <p:spPr>
          <a:xfrm>
            <a:off x="124756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5" name="Shape 73"/>
          <p:cNvSpPr/>
          <p:nvPr/>
        </p:nvSpPr>
        <p:spPr>
          <a:xfrm>
            <a:off x="126183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6" name="Shape 74"/>
          <p:cNvSpPr/>
          <p:nvPr/>
        </p:nvSpPr>
        <p:spPr>
          <a:xfrm>
            <a:off x="127610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7" name="Shape 75"/>
          <p:cNvSpPr/>
          <p:nvPr/>
        </p:nvSpPr>
        <p:spPr>
          <a:xfrm>
            <a:off x="129037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8" name="Shape 76"/>
          <p:cNvSpPr/>
          <p:nvPr/>
        </p:nvSpPr>
        <p:spPr>
          <a:xfrm>
            <a:off x="130464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9" name="Shape 77"/>
          <p:cNvSpPr/>
          <p:nvPr/>
        </p:nvSpPr>
        <p:spPr>
          <a:xfrm>
            <a:off x="131891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0" name="Shape 78"/>
          <p:cNvSpPr/>
          <p:nvPr/>
        </p:nvSpPr>
        <p:spPr>
          <a:xfrm>
            <a:off x="133318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1" name="Shape 79"/>
          <p:cNvSpPr/>
          <p:nvPr/>
        </p:nvSpPr>
        <p:spPr>
          <a:xfrm>
            <a:off x="134745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2" name="Shape 80"/>
          <p:cNvSpPr/>
          <p:nvPr/>
        </p:nvSpPr>
        <p:spPr>
          <a:xfrm>
            <a:off x="136172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3" name="Shape 81"/>
          <p:cNvSpPr/>
          <p:nvPr/>
        </p:nvSpPr>
        <p:spPr>
          <a:xfrm>
            <a:off x="137599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4" name="Shape 82"/>
          <p:cNvSpPr/>
          <p:nvPr/>
        </p:nvSpPr>
        <p:spPr>
          <a:xfrm>
            <a:off x="139026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5" name="Shape 83"/>
          <p:cNvSpPr/>
          <p:nvPr/>
        </p:nvSpPr>
        <p:spPr>
          <a:xfrm>
            <a:off x="140453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6" name="Shape 84"/>
          <p:cNvSpPr/>
          <p:nvPr/>
        </p:nvSpPr>
        <p:spPr>
          <a:xfrm>
            <a:off x="141880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7" name="Shape 85"/>
          <p:cNvSpPr/>
          <p:nvPr/>
        </p:nvSpPr>
        <p:spPr>
          <a:xfrm>
            <a:off x="143307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8" name="Shape 86"/>
          <p:cNvSpPr/>
          <p:nvPr/>
        </p:nvSpPr>
        <p:spPr>
          <a:xfrm>
            <a:off x="144734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9" name="Shape 87"/>
          <p:cNvSpPr/>
          <p:nvPr/>
        </p:nvSpPr>
        <p:spPr>
          <a:xfrm>
            <a:off x="146161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0" name="Shape 88"/>
          <p:cNvSpPr/>
          <p:nvPr/>
        </p:nvSpPr>
        <p:spPr>
          <a:xfrm>
            <a:off x="147588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1" name="Shape 89"/>
          <p:cNvSpPr/>
          <p:nvPr/>
        </p:nvSpPr>
        <p:spPr>
          <a:xfrm>
            <a:off x="149015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2" name="Shape 90"/>
          <p:cNvSpPr/>
          <p:nvPr/>
        </p:nvSpPr>
        <p:spPr>
          <a:xfrm>
            <a:off x="150442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3" name="Shape 91"/>
          <p:cNvSpPr/>
          <p:nvPr/>
        </p:nvSpPr>
        <p:spPr>
          <a:xfrm>
            <a:off x="151869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4" name="Shape 92"/>
          <p:cNvSpPr/>
          <p:nvPr/>
        </p:nvSpPr>
        <p:spPr>
          <a:xfrm>
            <a:off x="153295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5" name="Shape 93"/>
          <p:cNvSpPr/>
          <p:nvPr/>
        </p:nvSpPr>
        <p:spPr>
          <a:xfrm>
            <a:off x="154722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6" name="Shape 94"/>
          <p:cNvSpPr/>
          <p:nvPr/>
        </p:nvSpPr>
        <p:spPr>
          <a:xfrm>
            <a:off x="156149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7" name="Shape 95"/>
          <p:cNvSpPr/>
          <p:nvPr/>
        </p:nvSpPr>
        <p:spPr>
          <a:xfrm>
            <a:off x="157576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8" name="Shape 96"/>
          <p:cNvSpPr/>
          <p:nvPr/>
        </p:nvSpPr>
        <p:spPr>
          <a:xfrm>
            <a:off x="159003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9" name="Shape 97"/>
          <p:cNvSpPr/>
          <p:nvPr/>
        </p:nvSpPr>
        <p:spPr>
          <a:xfrm>
            <a:off x="160430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0" name="Shape 98"/>
          <p:cNvSpPr/>
          <p:nvPr/>
        </p:nvSpPr>
        <p:spPr>
          <a:xfrm>
            <a:off x="161857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1" name="Shape 99"/>
          <p:cNvSpPr/>
          <p:nvPr/>
        </p:nvSpPr>
        <p:spPr>
          <a:xfrm>
            <a:off x="163284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64711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66138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67565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68992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70419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71846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73273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74700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76127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77554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78981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80408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81835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83262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84689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86116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87543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88970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90397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91824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93250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94677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96104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97531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6" name="Shape 124"/>
          <p:cNvSpPr/>
          <p:nvPr/>
        </p:nvSpPr>
        <p:spPr>
          <a:xfrm>
            <a:off x="198958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7" name="Shape 125"/>
          <p:cNvSpPr/>
          <p:nvPr/>
        </p:nvSpPr>
        <p:spPr>
          <a:xfrm>
            <a:off x="200385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201812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03239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04666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06093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2" name="Shape 130"/>
          <p:cNvSpPr/>
          <p:nvPr/>
        </p:nvSpPr>
        <p:spPr>
          <a:xfrm>
            <a:off x="207520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3" name="Shape 131"/>
          <p:cNvSpPr/>
          <p:nvPr/>
        </p:nvSpPr>
        <p:spPr>
          <a:xfrm>
            <a:off x="208947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4" name="Shape 132"/>
          <p:cNvSpPr/>
          <p:nvPr/>
        </p:nvSpPr>
        <p:spPr>
          <a:xfrm>
            <a:off x="210374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211801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6" name="Shape 134"/>
          <p:cNvSpPr/>
          <p:nvPr/>
        </p:nvSpPr>
        <p:spPr>
          <a:xfrm>
            <a:off x="213228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7" name="Shape 135"/>
          <p:cNvSpPr/>
          <p:nvPr/>
        </p:nvSpPr>
        <p:spPr>
          <a:xfrm>
            <a:off x="214655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8" name="Shape 136"/>
          <p:cNvSpPr/>
          <p:nvPr/>
        </p:nvSpPr>
        <p:spPr>
          <a:xfrm>
            <a:off x="216082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217509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0" name="Shape 138"/>
          <p:cNvSpPr/>
          <p:nvPr/>
        </p:nvSpPr>
        <p:spPr>
          <a:xfrm>
            <a:off x="218936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20363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21790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23217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24644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26071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6" name="Shape 144"/>
          <p:cNvSpPr/>
          <p:nvPr/>
        </p:nvSpPr>
        <p:spPr>
          <a:xfrm>
            <a:off x="227498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28925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8" name="Shape 146"/>
          <p:cNvSpPr/>
          <p:nvPr/>
        </p:nvSpPr>
        <p:spPr>
          <a:xfrm>
            <a:off x="230352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9" name="Shape 147"/>
          <p:cNvSpPr/>
          <p:nvPr/>
        </p:nvSpPr>
        <p:spPr>
          <a:xfrm>
            <a:off x="231779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0" name="Shape 148"/>
          <p:cNvSpPr/>
          <p:nvPr/>
        </p:nvSpPr>
        <p:spPr>
          <a:xfrm>
            <a:off x="233205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1" name="Shape 149"/>
          <p:cNvSpPr/>
          <p:nvPr/>
        </p:nvSpPr>
        <p:spPr>
          <a:xfrm>
            <a:off x="234632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2" name="Shape 150"/>
          <p:cNvSpPr/>
          <p:nvPr/>
        </p:nvSpPr>
        <p:spPr>
          <a:xfrm>
            <a:off x="236059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3" name="Shape 151"/>
          <p:cNvSpPr/>
          <p:nvPr/>
        </p:nvSpPr>
        <p:spPr>
          <a:xfrm>
            <a:off x="237486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4" name="Shape 152"/>
          <p:cNvSpPr/>
          <p:nvPr/>
        </p:nvSpPr>
        <p:spPr>
          <a:xfrm>
            <a:off x="238913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5" name="Shape 153"/>
          <p:cNvSpPr/>
          <p:nvPr/>
        </p:nvSpPr>
        <p:spPr>
          <a:xfrm>
            <a:off x="240340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6" name="Shape 154"/>
          <p:cNvSpPr/>
          <p:nvPr/>
        </p:nvSpPr>
        <p:spPr>
          <a:xfrm>
            <a:off x="241767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7" name="Shape 155"/>
          <p:cNvSpPr/>
          <p:nvPr/>
        </p:nvSpPr>
        <p:spPr>
          <a:xfrm>
            <a:off x="243194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8" name="Shape 156"/>
          <p:cNvSpPr/>
          <p:nvPr/>
        </p:nvSpPr>
        <p:spPr>
          <a:xfrm>
            <a:off x="244621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9" name="Shape 157"/>
          <p:cNvSpPr/>
          <p:nvPr/>
        </p:nvSpPr>
        <p:spPr>
          <a:xfrm>
            <a:off x="246048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0" name="Shape 158"/>
          <p:cNvSpPr/>
          <p:nvPr/>
        </p:nvSpPr>
        <p:spPr>
          <a:xfrm>
            <a:off x="247475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1" name="Shape 159"/>
          <p:cNvSpPr/>
          <p:nvPr/>
        </p:nvSpPr>
        <p:spPr>
          <a:xfrm>
            <a:off x="248902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2" name="Shape 160"/>
          <p:cNvSpPr/>
          <p:nvPr/>
        </p:nvSpPr>
        <p:spPr>
          <a:xfrm>
            <a:off x="250329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3" name="Shape 161"/>
          <p:cNvSpPr/>
          <p:nvPr/>
        </p:nvSpPr>
        <p:spPr>
          <a:xfrm>
            <a:off x="251756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4" name="Shape 162"/>
          <p:cNvSpPr/>
          <p:nvPr/>
        </p:nvSpPr>
        <p:spPr>
          <a:xfrm>
            <a:off x="253183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5" name="Shape 163"/>
          <p:cNvSpPr/>
          <p:nvPr/>
        </p:nvSpPr>
        <p:spPr>
          <a:xfrm>
            <a:off x="254610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6" name="Shape 164"/>
          <p:cNvSpPr/>
          <p:nvPr/>
        </p:nvSpPr>
        <p:spPr>
          <a:xfrm>
            <a:off x="256037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7" name="Shape 165"/>
          <p:cNvSpPr/>
          <p:nvPr/>
        </p:nvSpPr>
        <p:spPr>
          <a:xfrm>
            <a:off x="257464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8" name="Shape 166"/>
          <p:cNvSpPr/>
          <p:nvPr/>
        </p:nvSpPr>
        <p:spPr>
          <a:xfrm>
            <a:off x="258891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9" name="Shape 167"/>
          <p:cNvSpPr/>
          <p:nvPr/>
        </p:nvSpPr>
        <p:spPr>
          <a:xfrm>
            <a:off x="260318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0" name="Shape 168"/>
          <p:cNvSpPr/>
          <p:nvPr/>
        </p:nvSpPr>
        <p:spPr>
          <a:xfrm>
            <a:off x="261745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1" name="Shape 169"/>
          <p:cNvSpPr/>
          <p:nvPr/>
        </p:nvSpPr>
        <p:spPr>
          <a:xfrm>
            <a:off x="263172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2" name="Shape 170"/>
          <p:cNvSpPr/>
          <p:nvPr/>
        </p:nvSpPr>
        <p:spPr>
          <a:xfrm>
            <a:off x="264599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3" name="Shape 171"/>
          <p:cNvSpPr/>
          <p:nvPr/>
        </p:nvSpPr>
        <p:spPr>
          <a:xfrm>
            <a:off x="266026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4" name="Shape 172"/>
          <p:cNvSpPr/>
          <p:nvPr/>
        </p:nvSpPr>
        <p:spPr>
          <a:xfrm>
            <a:off x="267453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5" name="Shape 173"/>
          <p:cNvSpPr/>
          <p:nvPr/>
        </p:nvSpPr>
        <p:spPr>
          <a:xfrm>
            <a:off x="268880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6" name="Shape 174"/>
          <p:cNvSpPr/>
          <p:nvPr/>
        </p:nvSpPr>
        <p:spPr>
          <a:xfrm>
            <a:off x="270307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7" name="Shape 175"/>
          <p:cNvSpPr/>
          <p:nvPr/>
        </p:nvSpPr>
        <p:spPr>
          <a:xfrm>
            <a:off x="271734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8" name="Shape 176"/>
          <p:cNvSpPr/>
          <p:nvPr/>
        </p:nvSpPr>
        <p:spPr>
          <a:xfrm>
            <a:off x="273160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9" name="Shape 177"/>
          <p:cNvSpPr/>
          <p:nvPr/>
        </p:nvSpPr>
        <p:spPr>
          <a:xfrm>
            <a:off x="274587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0" name="Shape 178"/>
          <p:cNvSpPr/>
          <p:nvPr/>
        </p:nvSpPr>
        <p:spPr>
          <a:xfrm>
            <a:off x="276014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1" name="Shape 179"/>
          <p:cNvSpPr/>
          <p:nvPr/>
        </p:nvSpPr>
        <p:spPr>
          <a:xfrm>
            <a:off x="277441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2" name="Shape 180"/>
          <p:cNvSpPr/>
          <p:nvPr/>
        </p:nvSpPr>
        <p:spPr>
          <a:xfrm>
            <a:off x="278868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3" name="Shape 181"/>
          <p:cNvSpPr/>
          <p:nvPr/>
        </p:nvSpPr>
        <p:spPr>
          <a:xfrm>
            <a:off x="280295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4" name="Shape 182"/>
          <p:cNvSpPr/>
          <p:nvPr/>
        </p:nvSpPr>
        <p:spPr>
          <a:xfrm>
            <a:off x="281722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5" name="Shape 183"/>
          <p:cNvSpPr/>
          <p:nvPr/>
        </p:nvSpPr>
        <p:spPr>
          <a:xfrm>
            <a:off x="283149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6" name="Shape 184"/>
          <p:cNvSpPr/>
          <p:nvPr/>
        </p:nvSpPr>
        <p:spPr>
          <a:xfrm>
            <a:off x="284576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7" name="Shape 185"/>
          <p:cNvSpPr/>
          <p:nvPr/>
        </p:nvSpPr>
        <p:spPr>
          <a:xfrm>
            <a:off x="286003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8" name="Shape 186"/>
          <p:cNvSpPr/>
          <p:nvPr/>
        </p:nvSpPr>
        <p:spPr>
          <a:xfrm>
            <a:off x="287430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9" name="Shape 187"/>
          <p:cNvSpPr/>
          <p:nvPr/>
        </p:nvSpPr>
        <p:spPr>
          <a:xfrm>
            <a:off x="288857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0" name="Shape 188"/>
          <p:cNvSpPr/>
          <p:nvPr/>
        </p:nvSpPr>
        <p:spPr>
          <a:xfrm>
            <a:off x="290284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1" name="Shape 189"/>
          <p:cNvSpPr/>
          <p:nvPr/>
        </p:nvSpPr>
        <p:spPr>
          <a:xfrm>
            <a:off x="291711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2" name="Shape 190"/>
          <p:cNvSpPr/>
          <p:nvPr/>
        </p:nvSpPr>
        <p:spPr>
          <a:xfrm>
            <a:off x="293138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3" name="Shape 191"/>
          <p:cNvSpPr/>
          <p:nvPr/>
        </p:nvSpPr>
        <p:spPr>
          <a:xfrm>
            <a:off x="294565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4" name="Shape 192"/>
          <p:cNvSpPr/>
          <p:nvPr/>
        </p:nvSpPr>
        <p:spPr>
          <a:xfrm>
            <a:off x="295992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5" name="Shape 193"/>
          <p:cNvSpPr/>
          <p:nvPr/>
        </p:nvSpPr>
        <p:spPr>
          <a:xfrm>
            <a:off x="297419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6" name="Shape 194"/>
          <p:cNvSpPr/>
          <p:nvPr/>
        </p:nvSpPr>
        <p:spPr>
          <a:xfrm>
            <a:off x="298846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7" name="Shape 195"/>
          <p:cNvSpPr/>
          <p:nvPr/>
        </p:nvSpPr>
        <p:spPr>
          <a:xfrm>
            <a:off x="300273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8" name="Shape 196"/>
          <p:cNvSpPr/>
          <p:nvPr/>
        </p:nvSpPr>
        <p:spPr>
          <a:xfrm>
            <a:off x="301700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9" name="Shape 197"/>
          <p:cNvSpPr/>
          <p:nvPr/>
        </p:nvSpPr>
        <p:spPr>
          <a:xfrm>
            <a:off x="303127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0" name="Shape 198"/>
          <p:cNvSpPr/>
          <p:nvPr/>
        </p:nvSpPr>
        <p:spPr>
          <a:xfrm>
            <a:off x="304554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1" name="Shape 199"/>
          <p:cNvSpPr/>
          <p:nvPr/>
        </p:nvSpPr>
        <p:spPr>
          <a:xfrm>
            <a:off x="305981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2" name="Shape 200"/>
          <p:cNvSpPr/>
          <p:nvPr/>
        </p:nvSpPr>
        <p:spPr>
          <a:xfrm>
            <a:off x="307408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3" name="Shape 201"/>
          <p:cNvSpPr/>
          <p:nvPr/>
        </p:nvSpPr>
        <p:spPr>
          <a:xfrm>
            <a:off x="308835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4" name="Shape 202"/>
          <p:cNvSpPr/>
          <p:nvPr/>
        </p:nvSpPr>
        <p:spPr>
          <a:xfrm>
            <a:off x="310262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5" name="Shape 203"/>
          <p:cNvSpPr/>
          <p:nvPr/>
        </p:nvSpPr>
        <p:spPr>
          <a:xfrm>
            <a:off x="311689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6" name="Shape 204"/>
          <p:cNvSpPr/>
          <p:nvPr/>
        </p:nvSpPr>
        <p:spPr>
          <a:xfrm>
            <a:off x="313115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7" name="Shape 205"/>
          <p:cNvSpPr/>
          <p:nvPr/>
        </p:nvSpPr>
        <p:spPr>
          <a:xfrm>
            <a:off x="314542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8" name="Shape 206"/>
          <p:cNvSpPr/>
          <p:nvPr/>
        </p:nvSpPr>
        <p:spPr>
          <a:xfrm>
            <a:off x="315969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9" name="Shape 207"/>
          <p:cNvSpPr/>
          <p:nvPr/>
        </p:nvSpPr>
        <p:spPr>
          <a:xfrm>
            <a:off x="317396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0" name="Shape 208"/>
          <p:cNvSpPr/>
          <p:nvPr/>
        </p:nvSpPr>
        <p:spPr>
          <a:xfrm>
            <a:off x="318823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1" name="Shape 209"/>
          <p:cNvSpPr/>
          <p:nvPr/>
        </p:nvSpPr>
        <p:spPr>
          <a:xfrm>
            <a:off x="320250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2" name="Shape 210"/>
          <p:cNvSpPr/>
          <p:nvPr/>
        </p:nvSpPr>
        <p:spPr>
          <a:xfrm>
            <a:off x="321677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3" name="Shape 211"/>
          <p:cNvSpPr/>
          <p:nvPr/>
        </p:nvSpPr>
        <p:spPr>
          <a:xfrm>
            <a:off x="323104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4" name="Shape 212"/>
          <p:cNvSpPr/>
          <p:nvPr/>
        </p:nvSpPr>
        <p:spPr>
          <a:xfrm>
            <a:off x="324531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5" name="Shape 213"/>
          <p:cNvSpPr/>
          <p:nvPr/>
        </p:nvSpPr>
        <p:spPr>
          <a:xfrm>
            <a:off x="325958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6" name="Shape 214"/>
          <p:cNvSpPr/>
          <p:nvPr/>
        </p:nvSpPr>
        <p:spPr>
          <a:xfrm>
            <a:off x="327385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7" name="Shape 215"/>
          <p:cNvSpPr/>
          <p:nvPr/>
        </p:nvSpPr>
        <p:spPr>
          <a:xfrm>
            <a:off x="328812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8" name="Shape 216"/>
          <p:cNvSpPr/>
          <p:nvPr/>
        </p:nvSpPr>
        <p:spPr>
          <a:xfrm>
            <a:off x="330239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9" name="Shape 217"/>
          <p:cNvSpPr/>
          <p:nvPr/>
        </p:nvSpPr>
        <p:spPr>
          <a:xfrm>
            <a:off x="331666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0" name="Shape 218"/>
          <p:cNvSpPr/>
          <p:nvPr/>
        </p:nvSpPr>
        <p:spPr>
          <a:xfrm>
            <a:off x="333093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1" name="Shape 219"/>
          <p:cNvSpPr/>
          <p:nvPr/>
        </p:nvSpPr>
        <p:spPr>
          <a:xfrm>
            <a:off x="334520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2" name="Shape 220"/>
          <p:cNvSpPr/>
          <p:nvPr/>
        </p:nvSpPr>
        <p:spPr>
          <a:xfrm>
            <a:off x="335947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3" name="Shape 221"/>
          <p:cNvSpPr/>
          <p:nvPr/>
        </p:nvSpPr>
        <p:spPr>
          <a:xfrm>
            <a:off x="337374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4" name="Shape 222"/>
          <p:cNvSpPr/>
          <p:nvPr/>
        </p:nvSpPr>
        <p:spPr>
          <a:xfrm>
            <a:off x="338801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5" name="Shape 223"/>
          <p:cNvSpPr/>
          <p:nvPr/>
        </p:nvSpPr>
        <p:spPr>
          <a:xfrm>
            <a:off x="340228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6" name="Shape 224"/>
          <p:cNvSpPr/>
          <p:nvPr/>
        </p:nvSpPr>
        <p:spPr>
          <a:xfrm>
            <a:off x="341655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7" name="Shape 225"/>
          <p:cNvSpPr/>
          <p:nvPr/>
        </p:nvSpPr>
        <p:spPr>
          <a:xfrm>
            <a:off x="343082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8" name="Shape 226"/>
          <p:cNvSpPr/>
          <p:nvPr/>
        </p:nvSpPr>
        <p:spPr>
          <a:xfrm>
            <a:off x="344509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9" name="Shape 227"/>
          <p:cNvSpPr/>
          <p:nvPr/>
        </p:nvSpPr>
        <p:spPr>
          <a:xfrm>
            <a:off x="345936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0" name="Shape 228"/>
          <p:cNvSpPr/>
          <p:nvPr/>
        </p:nvSpPr>
        <p:spPr>
          <a:xfrm>
            <a:off x="347363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1" name="Shape 229"/>
          <p:cNvSpPr/>
          <p:nvPr/>
        </p:nvSpPr>
        <p:spPr>
          <a:xfrm>
            <a:off x="348790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2" name="Shape 230"/>
          <p:cNvSpPr/>
          <p:nvPr/>
        </p:nvSpPr>
        <p:spPr>
          <a:xfrm>
            <a:off x="350217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3" name="Shape 231"/>
          <p:cNvSpPr/>
          <p:nvPr/>
        </p:nvSpPr>
        <p:spPr>
          <a:xfrm>
            <a:off x="351643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4" name="Shape 232"/>
          <p:cNvSpPr/>
          <p:nvPr/>
        </p:nvSpPr>
        <p:spPr>
          <a:xfrm>
            <a:off x="353070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5" name="Shape 233"/>
          <p:cNvSpPr/>
          <p:nvPr/>
        </p:nvSpPr>
        <p:spPr>
          <a:xfrm>
            <a:off x="354497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6" name="Shape 234"/>
          <p:cNvSpPr/>
          <p:nvPr/>
        </p:nvSpPr>
        <p:spPr>
          <a:xfrm>
            <a:off x="355924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7" name="Shape 235"/>
          <p:cNvSpPr/>
          <p:nvPr/>
        </p:nvSpPr>
        <p:spPr>
          <a:xfrm>
            <a:off x="357351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8" name="Shape 236"/>
          <p:cNvSpPr/>
          <p:nvPr/>
        </p:nvSpPr>
        <p:spPr>
          <a:xfrm>
            <a:off x="358778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9" name="Shape 237"/>
          <p:cNvSpPr/>
          <p:nvPr/>
        </p:nvSpPr>
        <p:spPr>
          <a:xfrm>
            <a:off x="360205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0" name="Shape 238"/>
          <p:cNvSpPr/>
          <p:nvPr/>
        </p:nvSpPr>
        <p:spPr>
          <a:xfrm>
            <a:off x="361632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1" name="Shape 239"/>
          <p:cNvSpPr/>
          <p:nvPr/>
        </p:nvSpPr>
        <p:spPr>
          <a:xfrm>
            <a:off x="3630597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2" name="Shape 240"/>
          <p:cNvSpPr/>
          <p:nvPr/>
        </p:nvSpPr>
        <p:spPr>
          <a:xfrm>
            <a:off x="364486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3" name="Shape 241"/>
          <p:cNvSpPr/>
          <p:nvPr/>
        </p:nvSpPr>
        <p:spPr>
          <a:xfrm>
            <a:off x="365913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4" name="Shape 242"/>
          <p:cNvSpPr/>
          <p:nvPr/>
        </p:nvSpPr>
        <p:spPr>
          <a:xfrm>
            <a:off x="3673406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5" name="Shape 243"/>
          <p:cNvSpPr/>
          <p:nvPr/>
        </p:nvSpPr>
        <p:spPr>
          <a:xfrm>
            <a:off x="368767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6" name="Shape 244"/>
          <p:cNvSpPr/>
          <p:nvPr/>
        </p:nvSpPr>
        <p:spPr>
          <a:xfrm>
            <a:off x="3701945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7" name="Shape 245"/>
          <p:cNvSpPr/>
          <p:nvPr/>
        </p:nvSpPr>
        <p:spPr>
          <a:xfrm>
            <a:off x="371621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8" name="Shape 246"/>
          <p:cNvSpPr/>
          <p:nvPr/>
        </p:nvSpPr>
        <p:spPr>
          <a:xfrm>
            <a:off x="373048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9" name="Shape 247"/>
          <p:cNvSpPr/>
          <p:nvPr/>
        </p:nvSpPr>
        <p:spPr>
          <a:xfrm>
            <a:off x="3744754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0" name="Shape 248"/>
          <p:cNvSpPr/>
          <p:nvPr/>
        </p:nvSpPr>
        <p:spPr>
          <a:xfrm>
            <a:off x="375902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1" name="Shape 249"/>
          <p:cNvSpPr/>
          <p:nvPr/>
        </p:nvSpPr>
        <p:spPr>
          <a:xfrm>
            <a:off x="377329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2" name="Shape 250"/>
          <p:cNvSpPr/>
          <p:nvPr/>
        </p:nvSpPr>
        <p:spPr>
          <a:xfrm>
            <a:off x="3787563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3" name="Shape 251"/>
          <p:cNvSpPr/>
          <p:nvPr/>
        </p:nvSpPr>
        <p:spPr>
          <a:xfrm>
            <a:off x="380183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4" name="Shape 252"/>
          <p:cNvSpPr/>
          <p:nvPr/>
        </p:nvSpPr>
        <p:spPr>
          <a:xfrm>
            <a:off x="381610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5" name="Shape 253"/>
          <p:cNvSpPr/>
          <p:nvPr/>
        </p:nvSpPr>
        <p:spPr>
          <a:xfrm>
            <a:off x="3830372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6" name="Shape 254"/>
          <p:cNvSpPr/>
          <p:nvPr/>
        </p:nvSpPr>
        <p:spPr>
          <a:xfrm>
            <a:off x="384464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7" name="Shape 255"/>
          <p:cNvSpPr/>
          <p:nvPr/>
        </p:nvSpPr>
        <p:spPr>
          <a:xfrm>
            <a:off x="385891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8" name="Shape 256"/>
          <p:cNvSpPr/>
          <p:nvPr/>
        </p:nvSpPr>
        <p:spPr>
          <a:xfrm>
            <a:off x="3873181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9" name="Shape 257"/>
          <p:cNvSpPr/>
          <p:nvPr/>
        </p:nvSpPr>
        <p:spPr>
          <a:xfrm>
            <a:off x="388745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0" name="Shape 258"/>
          <p:cNvSpPr/>
          <p:nvPr/>
        </p:nvSpPr>
        <p:spPr>
          <a:xfrm>
            <a:off x="3901720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1" name="Shape 259"/>
          <p:cNvSpPr/>
          <p:nvPr/>
        </p:nvSpPr>
        <p:spPr>
          <a:xfrm>
            <a:off x="391598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2" name="Shape 260"/>
          <p:cNvSpPr/>
          <p:nvPr/>
        </p:nvSpPr>
        <p:spPr>
          <a:xfrm>
            <a:off x="393025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3" name="Shape 261"/>
          <p:cNvSpPr/>
          <p:nvPr/>
        </p:nvSpPr>
        <p:spPr>
          <a:xfrm>
            <a:off x="3944529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4" name="Shape 262"/>
          <p:cNvSpPr/>
          <p:nvPr/>
        </p:nvSpPr>
        <p:spPr>
          <a:xfrm>
            <a:off x="3958798" y="1554480"/>
            <a:ext cx="1343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5" name="Shape 263"/>
          <p:cNvSpPr/>
          <p:nvPr/>
        </p:nvSpPr>
        <p:spPr>
          <a:xfrm>
            <a:off x="3973068" y="1554480"/>
            <a:ext cx="13430" cy="10972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6" name="Shape 264"/>
          <p:cNvSpPr/>
          <p:nvPr/>
        </p:nvSpPr>
        <p:spPr>
          <a:xfrm>
            <a:off x="3987338" y="1554480"/>
            <a:ext cx="13430" cy="109728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267" name="Shape 265"/>
          <p:cNvSpPr/>
          <p:nvPr/>
        </p:nvSpPr>
        <p:spPr>
          <a:xfrm>
            <a:off x="400160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8" name="Shape 266"/>
          <p:cNvSpPr/>
          <p:nvPr/>
        </p:nvSpPr>
        <p:spPr>
          <a:xfrm>
            <a:off x="401587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9" name="Shape 267"/>
          <p:cNvSpPr/>
          <p:nvPr/>
        </p:nvSpPr>
        <p:spPr>
          <a:xfrm>
            <a:off x="403014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0" name="Shape 268"/>
          <p:cNvSpPr/>
          <p:nvPr/>
        </p:nvSpPr>
        <p:spPr>
          <a:xfrm>
            <a:off x="404441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1" name="Shape 269"/>
          <p:cNvSpPr/>
          <p:nvPr/>
        </p:nvSpPr>
        <p:spPr>
          <a:xfrm>
            <a:off x="405868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2" name="Shape 270"/>
          <p:cNvSpPr/>
          <p:nvPr/>
        </p:nvSpPr>
        <p:spPr>
          <a:xfrm>
            <a:off x="407295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3" name="Shape 271"/>
          <p:cNvSpPr/>
          <p:nvPr/>
        </p:nvSpPr>
        <p:spPr>
          <a:xfrm>
            <a:off x="408722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4" name="Shape 272"/>
          <p:cNvSpPr/>
          <p:nvPr/>
        </p:nvSpPr>
        <p:spPr>
          <a:xfrm>
            <a:off x="410149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5" name="Shape 273"/>
          <p:cNvSpPr/>
          <p:nvPr/>
        </p:nvSpPr>
        <p:spPr>
          <a:xfrm>
            <a:off x="411576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6" name="Shape 274"/>
          <p:cNvSpPr/>
          <p:nvPr/>
        </p:nvSpPr>
        <p:spPr>
          <a:xfrm>
            <a:off x="413003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7" name="Shape 275"/>
          <p:cNvSpPr/>
          <p:nvPr/>
        </p:nvSpPr>
        <p:spPr>
          <a:xfrm>
            <a:off x="414430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8" name="Shape 276"/>
          <p:cNvSpPr/>
          <p:nvPr/>
        </p:nvSpPr>
        <p:spPr>
          <a:xfrm>
            <a:off x="415857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9" name="Shape 277"/>
          <p:cNvSpPr/>
          <p:nvPr/>
        </p:nvSpPr>
        <p:spPr>
          <a:xfrm>
            <a:off x="417284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0" name="Shape 278"/>
          <p:cNvSpPr/>
          <p:nvPr/>
        </p:nvSpPr>
        <p:spPr>
          <a:xfrm>
            <a:off x="418711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1" name="Shape 279"/>
          <p:cNvSpPr/>
          <p:nvPr/>
        </p:nvSpPr>
        <p:spPr>
          <a:xfrm>
            <a:off x="420138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2" name="Shape 280"/>
          <p:cNvSpPr/>
          <p:nvPr/>
        </p:nvSpPr>
        <p:spPr>
          <a:xfrm>
            <a:off x="421565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3" name="Shape 281"/>
          <p:cNvSpPr/>
          <p:nvPr/>
        </p:nvSpPr>
        <p:spPr>
          <a:xfrm>
            <a:off x="422992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4" name="Shape 282"/>
          <p:cNvSpPr/>
          <p:nvPr/>
        </p:nvSpPr>
        <p:spPr>
          <a:xfrm>
            <a:off x="424419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5" name="Shape 283"/>
          <p:cNvSpPr/>
          <p:nvPr/>
        </p:nvSpPr>
        <p:spPr>
          <a:xfrm>
            <a:off x="425846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6" name="Shape 284"/>
          <p:cNvSpPr/>
          <p:nvPr/>
        </p:nvSpPr>
        <p:spPr>
          <a:xfrm>
            <a:off x="427273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7" name="Shape 285"/>
          <p:cNvSpPr/>
          <p:nvPr/>
        </p:nvSpPr>
        <p:spPr>
          <a:xfrm>
            <a:off x="428700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8" name="Shape 286"/>
          <p:cNvSpPr/>
          <p:nvPr/>
        </p:nvSpPr>
        <p:spPr>
          <a:xfrm>
            <a:off x="430127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9" name="Shape 287"/>
          <p:cNvSpPr/>
          <p:nvPr/>
        </p:nvSpPr>
        <p:spPr>
          <a:xfrm>
            <a:off x="431553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0" name="Shape 288"/>
          <p:cNvSpPr/>
          <p:nvPr/>
        </p:nvSpPr>
        <p:spPr>
          <a:xfrm>
            <a:off x="432980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1" name="Shape 289"/>
          <p:cNvSpPr/>
          <p:nvPr/>
        </p:nvSpPr>
        <p:spPr>
          <a:xfrm>
            <a:off x="434407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2" name="Shape 290"/>
          <p:cNvSpPr/>
          <p:nvPr/>
        </p:nvSpPr>
        <p:spPr>
          <a:xfrm>
            <a:off x="435834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3" name="Shape 291"/>
          <p:cNvSpPr/>
          <p:nvPr/>
        </p:nvSpPr>
        <p:spPr>
          <a:xfrm>
            <a:off x="437261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4" name="Shape 292"/>
          <p:cNvSpPr/>
          <p:nvPr/>
        </p:nvSpPr>
        <p:spPr>
          <a:xfrm>
            <a:off x="438688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5" name="Shape 293"/>
          <p:cNvSpPr/>
          <p:nvPr/>
        </p:nvSpPr>
        <p:spPr>
          <a:xfrm>
            <a:off x="440115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6" name="Shape 294"/>
          <p:cNvSpPr/>
          <p:nvPr/>
        </p:nvSpPr>
        <p:spPr>
          <a:xfrm>
            <a:off x="441542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7" name="Shape 295"/>
          <p:cNvSpPr/>
          <p:nvPr/>
        </p:nvSpPr>
        <p:spPr>
          <a:xfrm>
            <a:off x="442969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8" name="Shape 296"/>
          <p:cNvSpPr/>
          <p:nvPr/>
        </p:nvSpPr>
        <p:spPr>
          <a:xfrm>
            <a:off x="444396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9" name="Shape 297"/>
          <p:cNvSpPr/>
          <p:nvPr/>
        </p:nvSpPr>
        <p:spPr>
          <a:xfrm>
            <a:off x="445823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0" name="Shape 298"/>
          <p:cNvSpPr/>
          <p:nvPr/>
        </p:nvSpPr>
        <p:spPr>
          <a:xfrm>
            <a:off x="447250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1" name="Shape 299"/>
          <p:cNvSpPr/>
          <p:nvPr/>
        </p:nvSpPr>
        <p:spPr>
          <a:xfrm>
            <a:off x="448677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2" name="Shape 300"/>
          <p:cNvSpPr/>
          <p:nvPr/>
        </p:nvSpPr>
        <p:spPr>
          <a:xfrm>
            <a:off x="450104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3" name="Shape 301"/>
          <p:cNvSpPr/>
          <p:nvPr/>
        </p:nvSpPr>
        <p:spPr>
          <a:xfrm>
            <a:off x="451531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4" name="Shape 302"/>
          <p:cNvSpPr/>
          <p:nvPr/>
        </p:nvSpPr>
        <p:spPr>
          <a:xfrm>
            <a:off x="452958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5" name="Shape 303"/>
          <p:cNvSpPr/>
          <p:nvPr/>
        </p:nvSpPr>
        <p:spPr>
          <a:xfrm>
            <a:off x="454385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6" name="Shape 304"/>
          <p:cNvSpPr/>
          <p:nvPr/>
        </p:nvSpPr>
        <p:spPr>
          <a:xfrm>
            <a:off x="455812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7" name="Shape 305"/>
          <p:cNvSpPr/>
          <p:nvPr/>
        </p:nvSpPr>
        <p:spPr>
          <a:xfrm>
            <a:off x="457239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8" name="Shape 306"/>
          <p:cNvSpPr/>
          <p:nvPr/>
        </p:nvSpPr>
        <p:spPr>
          <a:xfrm>
            <a:off x="458666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9" name="Shape 307"/>
          <p:cNvSpPr/>
          <p:nvPr/>
        </p:nvSpPr>
        <p:spPr>
          <a:xfrm>
            <a:off x="460093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0" name="Shape 308"/>
          <p:cNvSpPr/>
          <p:nvPr/>
        </p:nvSpPr>
        <p:spPr>
          <a:xfrm>
            <a:off x="461520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1" name="Shape 309"/>
          <p:cNvSpPr/>
          <p:nvPr/>
        </p:nvSpPr>
        <p:spPr>
          <a:xfrm>
            <a:off x="462947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2" name="Shape 310"/>
          <p:cNvSpPr/>
          <p:nvPr/>
        </p:nvSpPr>
        <p:spPr>
          <a:xfrm>
            <a:off x="464374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3" name="Shape 311"/>
          <p:cNvSpPr/>
          <p:nvPr/>
        </p:nvSpPr>
        <p:spPr>
          <a:xfrm>
            <a:off x="465801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4" name="Shape 312"/>
          <p:cNvSpPr/>
          <p:nvPr/>
        </p:nvSpPr>
        <p:spPr>
          <a:xfrm>
            <a:off x="467228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5" name="Shape 313"/>
          <p:cNvSpPr/>
          <p:nvPr/>
        </p:nvSpPr>
        <p:spPr>
          <a:xfrm>
            <a:off x="468655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6" name="Shape 314"/>
          <p:cNvSpPr/>
          <p:nvPr/>
        </p:nvSpPr>
        <p:spPr>
          <a:xfrm>
            <a:off x="470082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7" name="Shape 315"/>
          <p:cNvSpPr/>
          <p:nvPr/>
        </p:nvSpPr>
        <p:spPr>
          <a:xfrm>
            <a:off x="471508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8" name="Shape 316"/>
          <p:cNvSpPr/>
          <p:nvPr/>
        </p:nvSpPr>
        <p:spPr>
          <a:xfrm>
            <a:off x="472935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9" name="Shape 317"/>
          <p:cNvSpPr/>
          <p:nvPr/>
        </p:nvSpPr>
        <p:spPr>
          <a:xfrm>
            <a:off x="474362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0" name="Shape 318"/>
          <p:cNvSpPr/>
          <p:nvPr/>
        </p:nvSpPr>
        <p:spPr>
          <a:xfrm>
            <a:off x="475789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1" name="Shape 319"/>
          <p:cNvSpPr/>
          <p:nvPr/>
        </p:nvSpPr>
        <p:spPr>
          <a:xfrm>
            <a:off x="477216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2" name="Shape 320"/>
          <p:cNvSpPr/>
          <p:nvPr/>
        </p:nvSpPr>
        <p:spPr>
          <a:xfrm>
            <a:off x="478643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3" name="Shape 321"/>
          <p:cNvSpPr/>
          <p:nvPr/>
        </p:nvSpPr>
        <p:spPr>
          <a:xfrm>
            <a:off x="480070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4" name="Shape 322"/>
          <p:cNvSpPr/>
          <p:nvPr/>
        </p:nvSpPr>
        <p:spPr>
          <a:xfrm>
            <a:off x="481497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5" name="Shape 323"/>
          <p:cNvSpPr/>
          <p:nvPr/>
        </p:nvSpPr>
        <p:spPr>
          <a:xfrm>
            <a:off x="482924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6" name="Shape 324"/>
          <p:cNvSpPr/>
          <p:nvPr/>
        </p:nvSpPr>
        <p:spPr>
          <a:xfrm>
            <a:off x="484351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7" name="Shape 325"/>
          <p:cNvSpPr/>
          <p:nvPr/>
        </p:nvSpPr>
        <p:spPr>
          <a:xfrm>
            <a:off x="485778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8" name="Shape 326"/>
          <p:cNvSpPr/>
          <p:nvPr/>
        </p:nvSpPr>
        <p:spPr>
          <a:xfrm>
            <a:off x="487205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9" name="Shape 327"/>
          <p:cNvSpPr/>
          <p:nvPr/>
        </p:nvSpPr>
        <p:spPr>
          <a:xfrm>
            <a:off x="488632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0" name="Shape 328"/>
          <p:cNvSpPr/>
          <p:nvPr/>
        </p:nvSpPr>
        <p:spPr>
          <a:xfrm>
            <a:off x="490059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1" name="Shape 329"/>
          <p:cNvSpPr/>
          <p:nvPr/>
        </p:nvSpPr>
        <p:spPr>
          <a:xfrm>
            <a:off x="491486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2" name="Shape 330"/>
          <p:cNvSpPr/>
          <p:nvPr/>
        </p:nvSpPr>
        <p:spPr>
          <a:xfrm>
            <a:off x="492913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3" name="Shape 331"/>
          <p:cNvSpPr/>
          <p:nvPr/>
        </p:nvSpPr>
        <p:spPr>
          <a:xfrm>
            <a:off x="494340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4" name="Shape 332"/>
          <p:cNvSpPr/>
          <p:nvPr/>
        </p:nvSpPr>
        <p:spPr>
          <a:xfrm>
            <a:off x="495767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5" name="Shape 333"/>
          <p:cNvSpPr/>
          <p:nvPr/>
        </p:nvSpPr>
        <p:spPr>
          <a:xfrm>
            <a:off x="497194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6" name="Shape 334"/>
          <p:cNvSpPr/>
          <p:nvPr/>
        </p:nvSpPr>
        <p:spPr>
          <a:xfrm>
            <a:off x="498621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7" name="Shape 335"/>
          <p:cNvSpPr/>
          <p:nvPr/>
        </p:nvSpPr>
        <p:spPr>
          <a:xfrm>
            <a:off x="500048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8" name="Shape 336"/>
          <p:cNvSpPr/>
          <p:nvPr/>
        </p:nvSpPr>
        <p:spPr>
          <a:xfrm>
            <a:off x="501475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9" name="Shape 337"/>
          <p:cNvSpPr/>
          <p:nvPr/>
        </p:nvSpPr>
        <p:spPr>
          <a:xfrm>
            <a:off x="502902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0" name="Shape 338"/>
          <p:cNvSpPr/>
          <p:nvPr/>
        </p:nvSpPr>
        <p:spPr>
          <a:xfrm>
            <a:off x="504329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1" name="Shape 339"/>
          <p:cNvSpPr/>
          <p:nvPr/>
        </p:nvSpPr>
        <p:spPr>
          <a:xfrm>
            <a:off x="505756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2" name="Shape 340"/>
          <p:cNvSpPr/>
          <p:nvPr/>
        </p:nvSpPr>
        <p:spPr>
          <a:xfrm>
            <a:off x="507183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3" name="Shape 341"/>
          <p:cNvSpPr/>
          <p:nvPr/>
        </p:nvSpPr>
        <p:spPr>
          <a:xfrm>
            <a:off x="508610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4" name="Shape 342"/>
          <p:cNvSpPr/>
          <p:nvPr/>
        </p:nvSpPr>
        <p:spPr>
          <a:xfrm>
            <a:off x="510037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5" name="Shape 343"/>
          <p:cNvSpPr/>
          <p:nvPr/>
        </p:nvSpPr>
        <p:spPr>
          <a:xfrm>
            <a:off x="511463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6" name="Shape 344"/>
          <p:cNvSpPr/>
          <p:nvPr/>
        </p:nvSpPr>
        <p:spPr>
          <a:xfrm>
            <a:off x="512890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7" name="Shape 345"/>
          <p:cNvSpPr/>
          <p:nvPr/>
        </p:nvSpPr>
        <p:spPr>
          <a:xfrm>
            <a:off x="514317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8" name="Shape 346"/>
          <p:cNvSpPr/>
          <p:nvPr/>
        </p:nvSpPr>
        <p:spPr>
          <a:xfrm>
            <a:off x="515744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9" name="Shape 347"/>
          <p:cNvSpPr/>
          <p:nvPr/>
        </p:nvSpPr>
        <p:spPr>
          <a:xfrm>
            <a:off x="517171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0" name="Shape 348"/>
          <p:cNvSpPr/>
          <p:nvPr/>
        </p:nvSpPr>
        <p:spPr>
          <a:xfrm>
            <a:off x="518598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1" name="Shape 349"/>
          <p:cNvSpPr/>
          <p:nvPr/>
        </p:nvSpPr>
        <p:spPr>
          <a:xfrm>
            <a:off x="520025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2" name="Shape 350"/>
          <p:cNvSpPr/>
          <p:nvPr/>
        </p:nvSpPr>
        <p:spPr>
          <a:xfrm>
            <a:off x="521452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3" name="Shape 351"/>
          <p:cNvSpPr/>
          <p:nvPr/>
        </p:nvSpPr>
        <p:spPr>
          <a:xfrm>
            <a:off x="522879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4" name="Shape 352"/>
          <p:cNvSpPr/>
          <p:nvPr/>
        </p:nvSpPr>
        <p:spPr>
          <a:xfrm>
            <a:off x="524306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5" name="Shape 353"/>
          <p:cNvSpPr/>
          <p:nvPr/>
        </p:nvSpPr>
        <p:spPr>
          <a:xfrm>
            <a:off x="525733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6" name="Shape 354"/>
          <p:cNvSpPr/>
          <p:nvPr/>
        </p:nvSpPr>
        <p:spPr>
          <a:xfrm>
            <a:off x="527160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7" name="Shape 355"/>
          <p:cNvSpPr/>
          <p:nvPr/>
        </p:nvSpPr>
        <p:spPr>
          <a:xfrm>
            <a:off x="528587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8" name="Shape 356"/>
          <p:cNvSpPr/>
          <p:nvPr/>
        </p:nvSpPr>
        <p:spPr>
          <a:xfrm>
            <a:off x="530014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9" name="Shape 357"/>
          <p:cNvSpPr/>
          <p:nvPr/>
        </p:nvSpPr>
        <p:spPr>
          <a:xfrm>
            <a:off x="531441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0" name="Shape 358"/>
          <p:cNvSpPr/>
          <p:nvPr/>
        </p:nvSpPr>
        <p:spPr>
          <a:xfrm>
            <a:off x="532868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1" name="Shape 359"/>
          <p:cNvSpPr/>
          <p:nvPr/>
        </p:nvSpPr>
        <p:spPr>
          <a:xfrm>
            <a:off x="534295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2" name="Shape 360"/>
          <p:cNvSpPr/>
          <p:nvPr/>
        </p:nvSpPr>
        <p:spPr>
          <a:xfrm>
            <a:off x="535722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3" name="Shape 361"/>
          <p:cNvSpPr/>
          <p:nvPr/>
        </p:nvSpPr>
        <p:spPr>
          <a:xfrm>
            <a:off x="537149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4" name="Shape 362"/>
          <p:cNvSpPr/>
          <p:nvPr/>
        </p:nvSpPr>
        <p:spPr>
          <a:xfrm>
            <a:off x="538576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5" name="Shape 363"/>
          <p:cNvSpPr/>
          <p:nvPr/>
        </p:nvSpPr>
        <p:spPr>
          <a:xfrm>
            <a:off x="540003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6" name="Shape 364"/>
          <p:cNvSpPr/>
          <p:nvPr/>
        </p:nvSpPr>
        <p:spPr>
          <a:xfrm>
            <a:off x="541430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7" name="Shape 365"/>
          <p:cNvSpPr/>
          <p:nvPr/>
        </p:nvSpPr>
        <p:spPr>
          <a:xfrm>
            <a:off x="542857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8" name="Shape 366"/>
          <p:cNvSpPr/>
          <p:nvPr/>
        </p:nvSpPr>
        <p:spPr>
          <a:xfrm>
            <a:off x="544284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9" name="Shape 367"/>
          <p:cNvSpPr/>
          <p:nvPr/>
        </p:nvSpPr>
        <p:spPr>
          <a:xfrm>
            <a:off x="545711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0" name="Shape 368"/>
          <p:cNvSpPr/>
          <p:nvPr/>
        </p:nvSpPr>
        <p:spPr>
          <a:xfrm>
            <a:off x="547138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1" name="Shape 369"/>
          <p:cNvSpPr/>
          <p:nvPr/>
        </p:nvSpPr>
        <p:spPr>
          <a:xfrm>
            <a:off x="548565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2" name="Shape 370"/>
          <p:cNvSpPr/>
          <p:nvPr/>
        </p:nvSpPr>
        <p:spPr>
          <a:xfrm>
            <a:off x="549992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3" name="Shape 371"/>
          <p:cNvSpPr/>
          <p:nvPr/>
        </p:nvSpPr>
        <p:spPr>
          <a:xfrm>
            <a:off x="551418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4" name="Shape 372"/>
          <p:cNvSpPr/>
          <p:nvPr/>
        </p:nvSpPr>
        <p:spPr>
          <a:xfrm>
            <a:off x="552845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5" name="Shape 373"/>
          <p:cNvSpPr/>
          <p:nvPr/>
        </p:nvSpPr>
        <p:spPr>
          <a:xfrm>
            <a:off x="554272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6" name="Shape 374"/>
          <p:cNvSpPr/>
          <p:nvPr/>
        </p:nvSpPr>
        <p:spPr>
          <a:xfrm>
            <a:off x="555699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7" name="Shape 375"/>
          <p:cNvSpPr/>
          <p:nvPr/>
        </p:nvSpPr>
        <p:spPr>
          <a:xfrm>
            <a:off x="557126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8" name="Shape 376"/>
          <p:cNvSpPr/>
          <p:nvPr/>
        </p:nvSpPr>
        <p:spPr>
          <a:xfrm>
            <a:off x="558553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9" name="Shape 377"/>
          <p:cNvSpPr/>
          <p:nvPr/>
        </p:nvSpPr>
        <p:spPr>
          <a:xfrm>
            <a:off x="559980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0" name="Shape 378"/>
          <p:cNvSpPr/>
          <p:nvPr/>
        </p:nvSpPr>
        <p:spPr>
          <a:xfrm>
            <a:off x="561407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1" name="Shape 379"/>
          <p:cNvSpPr/>
          <p:nvPr/>
        </p:nvSpPr>
        <p:spPr>
          <a:xfrm>
            <a:off x="562834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2" name="Shape 380"/>
          <p:cNvSpPr/>
          <p:nvPr/>
        </p:nvSpPr>
        <p:spPr>
          <a:xfrm>
            <a:off x="564261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3" name="Shape 381"/>
          <p:cNvSpPr/>
          <p:nvPr/>
        </p:nvSpPr>
        <p:spPr>
          <a:xfrm>
            <a:off x="565688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4" name="Shape 382"/>
          <p:cNvSpPr/>
          <p:nvPr/>
        </p:nvSpPr>
        <p:spPr>
          <a:xfrm>
            <a:off x="567115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5" name="Shape 383"/>
          <p:cNvSpPr/>
          <p:nvPr/>
        </p:nvSpPr>
        <p:spPr>
          <a:xfrm>
            <a:off x="568542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6" name="Shape 384"/>
          <p:cNvSpPr/>
          <p:nvPr/>
        </p:nvSpPr>
        <p:spPr>
          <a:xfrm>
            <a:off x="569969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7" name="Shape 385"/>
          <p:cNvSpPr/>
          <p:nvPr/>
        </p:nvSpPr>
        <p:spPr>
          <a:xfrm>
            <a:off x="571396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8" name="Shape 386"/>
          <p:cNvSpPr/>
          <p:nvPr/>
        </p:nvSpPr>
        <p:spPr>
          <a:xfrm>
            <a:off x="572823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9" name="Shape 387"/>
          <p:cNvSpPr/>
          <p:nvPr/>
        </p:nvSpPr>
        <p:spPr>
          <a:xfrm>
            <a:off x="574250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0" name="Shape 388"/>
          <p:cNvSpPr/>
          <p:nvPr/>
        </p:nvSpPr>
        <p:spPr>
          <a:xfrm>
            <a:off x="575677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1" name="Shape 389"/>
          <p:cNvSpPr/>
          <p:nvPr/>
        </p:nvSpPr>
        <p:spPr>
          <a:xfrm>
            <a:off x="577104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2" name="Shape 390"/>
          <p:cNvSpPr/>
          <p:nvPr/>
        </p:nvSpPr>
        <p:spPr>
          <a:xfrm>
            <a:off x="578531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3" name="Shape 391"/>
          <p:cNvSpPr/>
          <p:nvPr/>
        </p:nvSpPr>
        <p:spPr>
          <a:xfrm>
            <a:off x="579958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4" name="Shape 392"/>
          <p:cNvSpPr/>
          <p:nvPr/>
        </p:nvSpPr>
        <p:spPr>
          <a:xfrm>
            <a:off x="581385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5" name="Shape 393"/>
          <p:cNvSpPr/>
          <p:nvPr/>
        </p:nvSpPr>
        <p:spPr>
          <a:xfrm>
            <a:off x="582812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6" name="Shape 394"/>
          <p:cNvSpPr/>
          <p:nvPr/>
        </p:nvSpPr>
        <p:spPr>
          <a:xfrm>
            <a:off x="584239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7" name="Shape 395"/>
          <p:cNvSpPr/>
          <p:nvPr/>
        </p:nvSpPr>
        <p:spPr>
          <a:xfrm>
            <a:off x="585666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8" name="Shape 396"/>
          <p:cNvSpPr/>
          <p:nvPr/>
        </p:nvSpPr>
        <p:spPr>
          <a:xfrm>
            <a:off x="587093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99" name="Shape 397"/>
          <p:cNvSpPr/>
          <p:nvPr/>
        </p:nvSpPr>
        <p:spPr>
          <a:xfrm>
            <a:off x="588520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0" name="Shape 398"/>
          <p:cNvSpPr/>
          <p:nvPr/>
        </p:nvSpPr>
        <p:spPr>
          <a:xfrm>
            <a:off x="589946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1" name="Shape 399"/>
          <p:cNvSpPr/>
          <p:nvPr/>
        </p:nvSpPr>
        <p:spPr>
          <a:xfrm>
            <a:off x="591373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2" name="Shape 400"/>
          <p:cNvSpPr/>
          <p:nvPr/>
        </p:nvSpPr>
        <p:spPr>
          <a:xfrm>
            <a:off x="592800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3" name="Shape 401"/>
          <p:cNvSpPr/>
          <p:nvPr/>
        </p:nvSpPr>
        <p:spPr>
          <a:xfrm>
            <a:off x="594227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4" name="Shape 402"/>
          <p:cNvSpPr/>
          <p:nvPr/>
        </p:nvSpPr>
        <p:spPr>
          <a:xfrm>
            <a:off x="595654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5" name="Shape 403"/>
          <p:cNvSpPr/>
          <p:nvPr/>
        </p:nvSpPr>
        <p:spPr>
          <a:xfrm>
            <a:off x="597081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6" name="Shape 404"/>
          <p:cNvSpPr/>
          <p:nvPr/>
        </p:nvSpPr>
        <p:spPr>
          <a:xfrm>
            <a:off x="598508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7" name="Shape 405"/>
          <p:cNvSpPr/>
          <p:nvPr/>
        </p:nvSpPr>
        <p:spPr>
          <a:xfrm>
            <a:off x="599935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8" name="Shape 406"/>
          <p:cNvSpPr/>
          <p:nvPr/>
        </p:nvSpPr>
        <p:spPr>
          <a:xfrm>
            <a:off x="601362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9" name="Shape 407"/>
          <p:cNvSpPr/>
          <p:nvPr/>
        </p:nvSpPr>
        <p:spPr>
          <a:xfrm>
            <a:off x="602789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0" name="Shape 408"/>
          <p:cNvSpPr/>
          <p:nvPr/>
        </p:nvSpPr>
        <p:spPr>
          <a:xfrm>
            <a:off x="604216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1" name="Shape 409"/>
          <p:cNvSpPr/>
          <p:nvPr/>
        </p:nvSpPr>
        <p:spPr>
          <a:xfrm>
            <a:off x="605643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2" name="Shape 410"/>
          <p:cNvSpPr/>
          <p:nvPr/>
        </p:nvSpPr>
        <p:spPr>
          <a:xfrm>
            <a:off x="607070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3" name="Shape 411"/>
          <p:cNvSpPr/>
          <p:nvPr/>
        </p:nvSpPr>
        <p:spPr>
          <a:xfrm>
            <a:off x="608497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4" name="Shape 412"/>
          <p:cNvSpPr/>
          <p:nvPr/>
        </p:nvSpPr>
        <p:spPr>
          <a:xfrm>
            <a:off x="609924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5" name="Shape 413"/>
          <p:cNvSpPr/>
          <p:nvPr/>
        </p:nvSpPr>
        <p:spPr>
          <a:xfrm>
            <a:off x="611351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6" name="Shape 414"/>
          <p:cNvSpPr/>
          <p:nvPr/>
        </p:nvSpPr>
        <p:spPr>
          <a:xfrm>
            <a:off x="612778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7" name="Shape 415"/>
          <p:cNvSpPr/>
          <p:nvPr/>
        </p:nvSpPr>
        <p:spPr>
          <a:xfrm>
            <a:off x="614205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8" name="Shape 416"/>
          <p:cNvSpPr/>
          <p:nvPr/>
        </p:nvSpPr>
        <p:spPr>
          <a:xfrm>
            <a:off x="615632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9" name="Shape 417"/>
          <p:cNvSpPr/>
          <p:nvPr/>
        </p:nvSpPr>
        <p:spPr>
          <a:xfrm>
            <a:off x="617059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0" name="Shape 418"/>
          <p:cNvSpPr/>
          <p:nvPr/>
        </p:nvSpPr>
        <p:spPr>
          <a:xfrm>
            <a:off x="618486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1" name="Shape 419"/>
          <p:cNvSpPr/>
          <p:nvPr/>
        </p:nvSpPr>
        <p:spPr>
          <a:xfrm>
            <a:off x="619913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2" name="Shape 420"/>
          <p:cNvSpPr/>
          <p:nvPr/>
        </p:nvSpPr>
        <p:spPr>
          <a:xfrm>
            <a:off x="621340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3" name="Shape 421"/>
          <p:cNvSpPr/>
          <p:nvPr/>
        </p:nvSpPr>
        <p:spPr>
          <a:xfrm>
            <a:off x="622767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4" name="Shape 422"/>
          <p:cNvSpPr/>
          <p:nvPr/>
        </p:nvSpPr>
        <p:spPr>
          <a:xfrm>
            <a:off x="624194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5" name="Shape 423"/>
          <p:cNvSpPr/>
          <p:nvPr/>
        </p:nvSpPr>
        <p:spPr>
          <a:xfrm>
            <a:off x="625621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6" name="Shape 424"/>
          <p:cNvSpPr/>
          <p:nvPr/>
        </p:nvSpPr>
        <p:spPr>
          <a:xfrm>
            <a:off x="627048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7" name="Shape 425"/>
          <p:cNvSpPr/>
          <p:nvPr/>
        </p:nvSpPr>
        <p:spPr>
          <a:xfrm>
            <a:off x="628475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8" name="Shape 426"/>
          <p:cNvSpPr/>
          <p:nvPr/>
        </p:nvSpPr>
        <p:spPr>
          <a:xfrm>
            <a:off x="629901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29" name="Shape 427"/>
          <p:cNvSpPr/>
          <p:nvPr/>
        </p:nvSpPr>
        <p:spPr>
          <a:xfrm>
            <a:off x="631328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0" name="Shape 428"/>
          <p:cNvSpPr/>
          <p:nvPr/>
        </p:nvSpPr>
        <p:spPr>
          <a:xfrm>
            <a:off x="632755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1" name="Shape 429"/>
          <p:cNvSpPr/>
          <p:nvPr/>
        </p:nvSpPr>
        <p:spPr>
          <a:xfrm>
            <a:off x="634182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2" name="Shape 430"/>
          <p:cNvSpPr/>
          <p:nvPr/>
        </p:nvSpPr>
        <p:spPr>
          <a:xfrm>
            <a:off x="635609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3" name="Shape 431"/>
          <p:cNvSpPr/>
          <p:nvPr/>
        </p:nvSpPr>
        <p:spPr>
          <a:xfrm>
            <a:off x="637036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4" name="Shape 432"/>
          <p:cNvSpPr/>
          <p:nvPr/>
        </p:nvSpPr>
        <p:spPr>
          <a:xfrm>
            <a:off x="638463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5" name="Shape 433"/>
          <p:cNvSpPr/>
          <p:nvPr/>
        </p:nvSpPr>
        <p:spPr>
          <a:xfrm>
            <a:off x="639890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6" name="Shape 434"/>
          <p:cNvSpPr/>
          <p:nvPr/>
        </p:nvSpPr>
        <p:spPr>
          <a:xfrm>
            <a:off x="641317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7" name="Shape 435"/>
          <p:cNvSpPr/>
          <p:nvPr/>
        </p:nvSpPr>
        <p:spPr>
          <a:xfrm>
            <a:off x="642744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8" name="Shape 436"/>
          <p:cNvSpPr/>
          <p:nvPr/>
        </p:nvSpPr>
        <p:spPr>
          <a:xfrm>
            <a:off x="644171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9" name="Shape 437"/>
          <p:cNvSpPr/>
          <p:nvPr/>
        </p:nvSpPr>
        <p:spPr>
          <a:xfrm>
            <a:off x="645598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0" name="Shape 438"/>
          <p:cNvSpPr/>
          <p:nvPr/>
        </p:nvSpPr>
        <p:spPr>
          <a:xfrm>
            <a:off x="647025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1" name="Shape 439"/>
          <p:cNvSpPr/>
          <p:nvPr/>
        </p:nvSpPr>
        <p:spPr>
          <a:xfrm>
            <a:off x="6484525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2" name="Shape 440"/>
          <p:cNvSpPr/>
          <p:nvPr/>
        </p:nvSpPr>
        <p:spPr>
          <a:xfrm>
            <a:off x="649879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3" name="Shape 441"/>
          <p:cNvSpPr/>
          <p:nvPr/>
        </p:nvSpPr>
        <p:spPr>
          <a:xfrm>
            <a:off x="651306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4" name="Shape 442"/>
          <p:cNvSpPr/>
          <p:nvPr/>
        </p:nvSpPr>
        <p:spPr>
          <a:xfrm>
            <a:off x="6527334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5" name="Shape 443"/>
          <p:cNvSpPr/>
          <p:nvPr/>
        </p:nvSpPr>
        <p:spPr>
          <a:xfrm>
            <a:off x="654160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6" name="Shape 444"/>
          <p:cNvSpPr/>
          <p:nvPr/>
        </p:nvSpPr>
        <p:spPr>
          <a:xfrm>
            <a:off x="655587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7" name="Shape 445"/>
          <p:cNvSpPr/>
          <p:nvPr/>
        </p:nvSpPr>
        <p:spPr>
          <a:xfrm>
            <a:off x="6570143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8" name="Shape 446"/>
          <p:cNvSpPr/>
          <p:nvPr/>
        </p:nvSpPr>
        <p:spPr>
          <a:xfrm>
            <a:off x="658441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9" name="Shape 447"/>
          <p:cNvSpPr/>
          <p:nvPr/>
        </p:nvSpPr>
        <p:spPr>
          <a:xfrm>
            <a:off x="659868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0" name="Shape 448"/>
          <p:cNvSpPr/>
          <p:nvPr/>
        </p:nvSpPr>
        <p:spPr>
          <a:xfrm>
            <a:off x="6612952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1" name="Shape 449"/>
          <p:cNvSpPr/>
          <p:nvPr/>
        </p:nvSpPr>
        <p:spPr>
          <a:xfrm>
            <a:off x="662722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2" name="Shape 450"/>
          <p:cNvSpPr/>
          <p:nvPr/>
        </p:nvSpPr>
        <p:spPr>
          <a:xfrm>
            <a:off x="6641491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3" name="Shape 451"/>
          <p:cNvSpPr/>
          <p:nvPr/>
        </p:nvSpPr>
        <p:spPr>
          <a:xfrm>
            <a:off x="665576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4" name="Shape 452"/>
          <p:cNvSpPr/>
          <p:nvPr/>
        </p:nvSpPr>
        <p:spPr>
          <a:xfrm>
            <a:off x="667003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5" name="Shape 453"/>
          <p:cNvSpPr/>
          <p:nvPr/>
        </p:nvSpPr>
        <p:spPr>
          <a:xfrm>
            <a:off x="6684300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6" name="Shape 454"/>
          <p:cNvSpPr/>
          <p:nvPr/>
        </p:nvSpPr>
        <p:spPr>
          <a:xfrm>
            <a:off x="669856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7" name="Shape 455"/>
          <p:cNvSpPr/>
          <p:nvPr/>
        </p:nvSpPr>
        <p:spPr>
          <a:xfrm>
            <a:off x="671283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8" name="Shape 456"/>
          <p:cNvSpPr/>
          <p:nvPr/>
        </p:nvSpPr>
        <p:spPr>
          <a:xfrm>
            <a:off x="6727109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9" name="Shape 457"/>
          <p:cNvSpPr/>
          <p:nvPr/>
        </p:nvSpPr>
        <p:spPr>
          <a:xfrm>
            <a:off x="674137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0" name="Shape 458"/>
          <p:cNvSpPr/>
          <p:nvPr/>
        </p:nvSpPr>
        <p:spPr>
          <a:xfrm>
            <a:off x="675564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1" name="Shape 459"/>
          <p:cNvSpPr/>
          <p:nvPr/>
        </p:nvSpPr>
        <p:spPr>
          <a:xfrm>
            <a:off x="6769918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2" name="Shape 460"/>
          <p:cNvSpPr/>
          <p:nvPr/>
        </p:nvSpPr>
        <p:spPr>
          <a:xfrm>
            <a:off x="678418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3" name="Shape 461"/>
          <p:cNvSpPr/>
          <p:nvPr/>
        </p:nvSpPr>
        <p:spPr>
          <a:xfrm>
            <a:off x="6798457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4" name="Shape 462"/>
          <p:cNvSpPr/>
          <p:nvPr/>
        </p:nvSpPr>
        <p:spPr>
          <a:xfrm>
            <a:off x="681272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5" name="Shape 463"/>
          <p:cNvSpPr/>
          <p:nvPr/>
        </p:nvSpPr>
        <p:spPr>
          <a:xfrm>
            <a:off x="6826996" y="1554480"/>
            <a:ext cx="1343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6" name="Shape 464"/>
          <p:cNvSpPr/>
          <p:nvPr/>
        </p:nvSpPr>
        <p:spPr>
          <a:xfrm>
            <a:off x="6841266" y="1828800"/>
            <a:ext cx="1343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7" name="Shape 465"/>
          <p:cNvSpPr/>
          <p:nvPr/>
        </p:nvSpPr>
        <p:spPr>
          <a:xfrm>
            <a:off x="685553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68" name="Shape 466"/>
          <p:cNvSpPr/>
          <p:nvPr/>
        </p:nvSpPr>
        <p:spPr>
          <a:xfrm>
            <a:off x="686980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69" name="Shape 467"/>
          <p:cNvSpPr/>
          <p:nvPr/>
        </p:nvSpPr>
        <p:spPr>
          <a:xfrm>
            <a:off x="688407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0" name="Shape 468"/>
          <p:cNvSpPr/>
          <p:nvPr/>
        </p:nvSpPr>
        <p:spPr>
          <a:xfrm>
            <a:off x="689834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1" name="Shape 469"/>
          <p:cNvSpPr/>
          <p:nvPr/>
        </p:nvSpPr>
        <p:spPr>
          <a:xfrm>
            <a:off x="691261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2" name="Shape 470"/>
          <p:cNvSpPr/>
          <p:nvPr/>
        </p:nvSpPr>
        <p:spPr>
          <a:xfrm>
            <a:off x="692688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3" name="Shape 471"/>
          <p:cNvSpPr/>
          <p:nvPr/>
        </p:nvSpPr>
        <p:spPr>
          <a:xfrm>
            <a:off x="694115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4" name="Shape 472"/>
          <p:cNvSpPr/>
          <p:nvPr/>
        </p:nvSpPr>
        <p:spPr>
          <a:xfrm>
            <a:off x="695542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5" name="Shape 473"/>
          <p:cNvSpPr/>
          <p:nvPr/>
        </p:nvSpPr>
        <p:spPr>
          <a:xfrm>
            <a:off x="696969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6" name="Shape 474"/>
          <p:cNvSpPr/>
          <p:nvPr/>
        </p:nvSpPr>
        <p:spPr>
          <a:xfrm>
            <a:off x="698396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7" name="Shape 475"/>
          <p:cNvSpPr/>
          <p:nvPr/>
        </p:nvSpPr>
        <p:spPr>
          <a:xfrm>
            <a:off x="699823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8" name="Shape 476"/>
          <p:cNvSpPr/>
          <p:nvPr/>
        </p:nvSpPr>
        <p:spPr>
          <a:xfrm>
            <a:off x="701250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79" name="Shape 477"/>
          <p:cNvSpPr/>
          <p:nvPr/>
        </p:nvSpPr>
        <p:spPr>
          <a:xfrm>
            <a:off x="702677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0" name="Shape 478"/>
          <p:cNvSpPr/>
          <p:nvPr/>
        </p:nvSpPr>
        <p:spPr>
          <a:xfrm>
            <a:off x="704104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1" name="Shape 479"/>
          <p:cNvSpPr/>
          <p:nvPr/>
        </p:nvSpPr>
        <p:spPr>
          <a:xfrm>
            <a:off x="705531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2" name="Shape 480"/>
          <p:cNvSpPr/>
          <p:nvPr/>
        </p:nvSpPr>
        <p:spPr>
          <a:xfrm>
            <a:off x="706958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3" name="Shape 481"/>
          <p:cNvSpPr/>
          <p:nvPr/>
        </p:nvSpPr>
        <p:spPr>
          <a:xfrm>
            <a:off x="708385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4" name="Shape 482"/>
          <p:cNvSpPr/>
          <p:nvPr/>
        </p:nvSpPr>
        <p:spPr>
          <a:xfrm>
            <a:off x="709811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5" name="Shape 483"/>
          <p:cNvSpPr/>
          <p:nvPr/>
        </p:nvSpPr>
        <p:spPr>
          <a:xfrm>
            <a:off x="711238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6" name="Shape 484"/>
          <p:cNvSpPr/>
          <p:nvPr/>
        </p:nvSpPr>
        <p:spPr>
          <a:xfrm>
            <a:off x="712665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7" name="Shape 485"/>
          <p:cNvSpPr/>
          <p:nvPr/>
        </p:nvSpPr>
        <p:spPr>
          <a:xfrm>
            <a:off x="7140928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8" name="Shape 486"/>
          <p:cNvSpPr/>
          <p:nvPr/>
        </p:nvSpPr>
        <p:spPr>
          <a:xfrm>
            <a:off x="7155198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89" name="Shape 487"/>
          <p:cNvSpPr/>
          <p:nvPr/>
        </p:nvSpPr>
        <p:spPr>
          <a:xfrm>
            <a:off x="716946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0" name="Shape 488"/>
          <p:cNvSpPr/>
          <p:nvPr/>
        </p:nvSpPr>
        <p:spPr>
          <a:xfrm>
            <a:off x="718373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1" name="Shape 489"/>
          <p:cNvSpPr/>
          <p:nvPr/>
        </p:nvSpPr>
        <p:spPr>
          <a:xfrm>
            <a:off x="719800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2" name="Shape 490"/>
          <p:cNvSpPr/>
          <p:nvPr/>
        </p:nvSpPr>
        <p:spPr>
          <a:xfrm>
            <a:off x="721227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3" name="Shape 491"/>
          <p:cNvSpPr/>
          <p:nvPr/>
        </p:nvSpPr>
        <p:spPr>
          <a:xfrm>
            <a:off x="722654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4" name="Shape 492"/>
          <p:cNvSpPr/>
          <p:nvPr/>
        </p:nvSpPr>
        <p:spPr>
          <a:xfrm>
            <a:off x="724081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5" name="Shape 493"/>
          <p:cNvSpPr/>
          <p:nvPr/>
        </p:nvSpPr>
        <p:spPr>
          <a:xfrm>
            <a:off x="725508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6" name="Shape 494"/>
          <p:cNvSpPr/>
          <p:nvPr/>
        </p:nvSpPr>
        <p:spPr>
          <a:xfrm>
            <a:off x="726935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7" name="Shape 495"/>
          <p:cNvSpPr/>
          <p:nvPr/>
        </p:nvSpPr>
        <p:spPr>
          <a:xfrm>
            <a:off x="7283625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8" name="Shape 496"/>
          <p:cNvSpPr/>
          <p:nvPr/>
        </p:nvSpPr>
        <p:spPr>
          <a:xfrm>
            <a:off x="729789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499" name="Shape 497"/>
          <p:cNvSpPr/>
          <p:nvPr/>
        </p:nvSpPr>
        <p:spPr>
          <a:xfrm>
            <a:off x="731216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0" name="Shape 498"/>
          <p:cNvSpPr/>
          <p:nvPr/>
        </p:nvSpPr>
        <p:spPr>
          <a:xfrm>
            <a:off x="7326434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1" name="Shape 499"/>
          <p:cNvSpPr/>
          <p:nvPr/>
        </p:nvSpPr>
        <p:spPr>
          <a:xfrm>
            <a:off x="734070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2" name="Shape 500"/>
          <p:cNvSpPr/>
          <p:nvPr/>
        </p:nvSpPr>
        <p:spPr>
          <a:xfrm>
            <a:off x="7354973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3" name="Shape 501"/>
          <p:cNvSpPr/>
          <p:nvPr/>
        </p:nvSpPr>
        <p:spPr>
          <a:xfrm>
            <a:off x="736924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4" name="Shape 502"/>
          <p:cNvSpPr/>
          <p:nvPr/>
        </p:nvSpPr>
        <p:spPr>
          <a:xfrm>
            <a:off x="738351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5" name="Shape 503"/>
          <p:cNvSpPr/>
          <p:nvPr/>
        </p:nvSpPr>
        <p:spPr>
          <a:xfrm>
            <a:off x="7397782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6" name="Shape 504"/>
          <p:cNvSpPr/>
          <p:nvPr/>
        </p:nvSpPr>
        <p:spPr>
          <a:xfrm>
            <a:off x="741205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7" name="Shape 505"/>
          <p:cNvSpPr/>
          <p:nvPr/>
        </p:nvSpPr>
        <p:spPr>
          <a:xfrm>
            <a:off x="742632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8" name="Shape 506"/>
          <p:cNvSpPr/>
          <p:nvPr/>
        </p:nvSpPr>
        <p:spPr>
          <a:xfrm>
            <a:off x="7440591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09" name="Shape 507"/>
          <p:cNvSpPr/>
          <p:nvPr/>
        </p:nvSpPr>
        <p:spPr>
          <a:xfrm>
            <a:off x="745486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0" name="Shape 508"/>
          <p:cNvSpPr/>
          <p:nvPr/>
        </p:nvSpPr>
        <p:spPr>
          <a:xfrm>
            <a:off x="746913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1" name="Shape 509"/>
          <p:cNvSpPr/>
          <p:nvPr/>
        </p:nvSpPr>
        <p:spPr>
          <a:xfrm>
            <a:off x="7483400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2" name="Shape 510"/>
          <p:cNvSpPr/>
          <p:nvPr/>
        </p:nvSpPr>
        <p:spPr>
          <a:xfrm>
            <a:off x="749766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3" name="Shape 511"/>
          <p:cNvSpPr/>
          <p:nvPr/>
        </p:nvSpPr>
        <p:spPr>
          <a:xfrm>
            <a:off x="751193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4" name="Shape 512"/>
          <p:cNvSpPr/>
          <p:nvPr/>
        </p:nvSpPr>
        <p:spPr>
          <a:xfrm>
            <a:off x="7526209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5" name="Shape 513"/>
          <p:cNvSpPr/>
          <p:nvPr/>
        </p:nvSpPr>
        <p:spPr>
          <a:xfrm>
            <a:off x="7540478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6" name="Shape 514"/>
          <p:cNvSpPr/>
          <p:nvPr/>
        </p:nvSpPr>
        <p:spPr>
          <a:xfrm>
            <a:off x="7554748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7" name="Shape 515"/>
          <p:cNvSpPr/>
          <p:nvPr/>
        </p:nvSpPr>
        <p:spPr>
          <a:xfrm>
            <a:off x="756901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8" name="Shape 516"/>
          <p:cNvSpPr/>
          <p:nvPr/>
        </p:nvSpPr>
        <p:spPr>
          <a:xfrm>
            <a:off x="758328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19" name="Shape 517"/>
          <p:cNvSpPr/>
          <p:nvPr/>
        </p:nvSpPr>
        <p:spPr>
          <a:xfrm>
            <a:off x="7597557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20" name="Shape 518"/>
          <p:cNvSpPr/>
          <p:nvPr/>
        </p:nvSpPr>
        <p:spPr>
          <a:xfrm>
            <a:off x="7611826" y="1828800"/>
            <a:ext cx="13430" cy="548640"/>
          </a:xfrm>
          <a:prstGeom prst="rect">
            <a:avLst/>
          </a:prstGeom>
          <a:solidFill>
            <a:srgbClr val="CBD5E1">
              <a:alpha val="50000"/>
            </a:srgbClr>
          </a:solidFill>
          <a:ln/>
        </p:spPr>
      </p:sp>
      <p:sp>
        <p:nvSpPr>
          <p:cNvPr id="521" name="Text 519"/>
          <p:cNvSpPr/>
          <p:nvPr/>
        </p:nvSpPr>
        <p:spPr>
          <a:xfrm>
            <a:off x="320040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522" name="Text 520"/>
          <p:cNvSpPr/>
          <p:nvPr/>
        </p:nvSpPr>
        <p:spPr>
          <a:xfrm>
            <a:off x="936260" y="2743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700" dirty="0"/>
          </a:p>
        </p:txBody>
      </p:sp>
      <p:sp>
        <p:nvSpPr>
          <p:cNvPr id="523" name="Text 521"/>
          <p:cNvSpPr/>
          <p:nvPr/>
        </p:nvSpPr>
        <p:spPr>
          <a:xfrm>
            <a:off x="950530" y="2743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700" dirty="0"/>
          </a:p>
        </p:txBody>
      </p:sp>
      <p:sp>
        <p:nvSpPr>
          <p:cNvPr id="524" name="Text 522"/>
          <p:cNvSpPr/>
          <p:nvPr/>
        </p:nvSpPr>
        <p:spPr>
          <a:xfrm>
            <a:off x="3790188" y="2743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700" dirty="0"/>
          </a:p>
        </p:txBody>
      </p:sp>
      <p:sp>
        <p:nvSpPr>
          <p:cNvPr id="525" name="Text 523"/>
          <p:cNvSpPr/>
          <p:nvPr/>
        </p:nvSpPr>
        <p:spPr>
          <a:xfrm>
            <a:off x="3804458" y="2743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</a:t>
            </a:r>
            <a:endParaRPr lang="en-US" sz="700" dirty="0"/>
          </a:p>
        </p:txBody>
      </p:sp>
      <p:sp>
        <p:nvSpPr>
          <p:cNvPr id="526" name="Text 524"/>
          <p:cNvSpPr/>
          <p:nvPr/>
        </p:nvSpPr>
        <p:spPr>
          <a:xfrm>
            <a:off x="6658386" y="27432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</a:t>
            </a:r>
            <a:endParaRPr lang="en-US" sz="700" dirty="0"/>
          </a:p>
        </p:txBody>
      </p:sp>
      <p:sp>
        <p:nvSpPr>
          <p:cNvPr id="527" name="Shape 525"/>
          <p:cNvSpPr/>
          <p:nvPr/>
        </p:nvSpPr>
        <p:spPr>
          <a:xfrm>
            <a:off x="274320" y="3200400"/>
            <a:ext cx="8595360" cy="118872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274320" y="3200400"/>
            <a:ext cx="36576" cy="1188720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3716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Bins 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DC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避免DAC LO泄漏（本地振荡器）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Bins 2-56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左侧保护带（55）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抑制带外发射（sinc旁瓣）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Bins 57-256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数据 1-200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QPSK/QAM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200活跃子载波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Bin 257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Nyquist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奈奎斯特频率为零，避免混叠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Bins 258-457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数据 201-400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QPSK/QAM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200活跃子载波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Bins 458-512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</a:rPr>
                        <a:t>右侧保护带（55）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抑制带外发射（sinc旁瓣）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530" name="Shape 527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1" name="Text 528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532" name="Text 529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OFDM调制 — IFFT + CP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512点IFFT转换 + 循环前缀保护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56616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" cy="3566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42062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IFFT变换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频域数据 X[k]，k=0..511 → 时域信号 x[n]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1920240"/>
            <a:ext cx="3474720" cy="594360"/>
          </a:xfrm>
          <a:prstGeom prst="rect">
            <a:avLst/>
          </a:prstGeom>
          <a:solidFill>
            <a:srgbClr val="1D4ED8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20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512-point IFFT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输出: 512点时域样本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005840"/>
            <a:ext cx="36576" cy="3566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00584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循环前缀（CP）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0640" y="1737360"/>
            <a:ext cx="109728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737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(8样本)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09360" y="1737360"/>
            <a:ext cx="21031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IFFT Body (512样本)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2286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复制尾部8样本到前端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20640" y="2606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关键参数：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8803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总符号长度: 8 + 512 = 520样本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符号时长: 520 μs (样率 1 MHz)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 = 8 μs &gt; 最大时延 2 μs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CP消除符号间干扰（ISI）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代价: 频谱效率 = 512/520 ≈ 98.5%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200400"/>
            <a:ext cx="137160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CP(8)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03120" y="3200400"/>
            <a:ext cx="21945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21031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IFFT Body (512 = 512 μs)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703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总长 = 520 μs →</a:t>
            </a:r>
            <a:endParaRPr lang="en-US" sz="900" dirty="0"/>
          </a:p>
        </p:txBody>
      </p:sp>
      <p:sp>
        <p:nvSpPr>
          <p:cNvPr id="30" name="Shape 28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训练序列与导频设计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Sequence &amp; Pilot 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3716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帧结构：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6002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1417320"/>
            <a:ext cx="160020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417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417320"/>
            <a:ext cx="12344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417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1417320"/>
            <a:ext cx="123444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417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1417320"/>
            <a:ext cx="123444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1732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1417320"/>
            <a:ext cx="685800" cy="5943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14173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057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每个符号均包含 CP 前缀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4114800" cy="192024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651760"/>
            <a:ext cx="36576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265176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训练序列（Training）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类型：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PN序列（伪随机噪声）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种子：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 seed = 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用途：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7947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时间同步：互相关峰值检测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频率同步：相位差分估计频偏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- 自相关特性好，互相关峰值明显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651760"/>
            <a:ext cx="4023360" cy="192024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651760"/>
            <a:ext cx="36576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265176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导频序列（Pilot）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3108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类型：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BPSK已知序列（块型导频）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33375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种子：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rng seed = 13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566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用途：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信道估计（Channel Estimation）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794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覆盖范围：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 400个活跃子载波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4114800"/>
            <a:ext cx="3383280" cy="347472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1148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Ĥ_k = Y_k / X_k  (X_k = ±1, ZF估计)</a:t>
            </a:r>
            <a:endParaRPr lang="en-US" sz="1000" dirty="0"/>
          </a:p>
        </p:txBody>
      </p:sp>
      <p:sp>
        <p:nvSpPr>
          <p:cNvPr id="40" name="Shape 38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OFDM帧结构与符号数量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不同调制方式下的帧组织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286000"/>
                <a:gridCol w="23774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调制方式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数据符号/帧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总符号数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帧时长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有效数据率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82F6"/>
                          </a:solidFill>
                        </a:rPr>
                        <a:t>QPSK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28 (1T+1P+26D)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28 × 520 μs = 14.56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26/28 = 92.9%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</a:rPr>
                        <a:t>16QAM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15 (1T+1P+13D)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15 × 520 μs = 7.8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13/15 = 86.7%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</a:rPr>
                        <a:t>64QAM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11 (1T+1P+9D)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11 × 520 μs = 5.72 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</a:rPr>
                        <a:t>9/11 = 81.8%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926080"/>
            <a:ext cx="36576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292608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设计说明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每帧 = 1 Training + 1 Pilot + N个数据符号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训练和导频各占一个 OFDM符号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数据符号数取决于 bits/符号与总bits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帧时长 &lt;&lt; 相干时间 (~0.18 s) → 慢衰落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2926080"/>
            <a:ext cx="36576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0" y="292608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QPSK帧可视化（28符号）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3520440"/>
            <a:ext cx="38404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120640" y="3520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532120" y="3520440"/>
            <a:ext cx="38404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5532120" y="3520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43600" y="3520440"/>
            <a:ext cx="2258568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35204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D1...D26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93776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总时长: 28 × 520 μs = 14.56 ms</a:t>
            </a:r>
            <a:endParaRPr lang="en-US" sz="1000" dirty="0"/>
          </a:p>
        </p:txBody>
      </p:sp>
      <p:sp>
        <p:nvSpPr>
          <p:cNvPr id="23" name="Shape 20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VHF车载移动信道模型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5-path Rayleigh Fading + Doppler + Fractional Delay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754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</a:tblGrid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多径数量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时延剖面（μs）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0.2, 0.5, 1.0, 2.0]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功率剖面（dB）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-3, -6, -9, -12]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衰落类型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Rayleigh（微小没有直射径）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多普勒频移 fd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5.56 Hz (60 km/h @ 100 MHz)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相干时间 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0.18 s (1/fd)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相干带宽 Bc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390 kHz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衰落类型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慢衰落（Tc &gt;&gt; 帧时长 ~14.56 ms）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频率选择性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是（Bc &lt; 信号带宽 1 MHz）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005840"/>
            <a:ext cx="3291840" cy="18288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1005840"/>
            <a:ext cx="36576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0" y="1005840"/>
            <a:ext cx="32918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功率时延剖面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1554480"/>
            <a:ext cx="320040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13716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dB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669280" y="2542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μs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016752" y="1737360"/>
            <a:ext cx="320040" cy="7315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5925312" y="15544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 dB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925312" y="2542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μs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6400800" y="1920240"/>
            <a:ext cx="320040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7373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 dB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309360" y="2542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μs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7040880" y="2103120"/>
            <a:ext cx="32004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1920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 dB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949440" y="2542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μs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321040" y="2286000"/>
            <a:ext cx="320040" cy="1828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0" y="2103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dB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8229600" y="2542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μs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486400" y="3063240"/>
            <a:ext cx="3291840" cy="123444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0" y="3063240"/>
            <a:ext cx="36576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Shape 25"/>
          <p:cNvSpPr/>
          <p:nvPr/>
        </p:nvSpPr>
        <p:spPr>
          <a:xfrm>
            <a:off x="5486400" y="3063240"/>
            <a:ext cx="3291840" cy="5486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9" name="Text 26"/>
          <p:cNvSpPr/>
          <p:nvPr/>
        </p:nvSpPr>
        <p:spPr>
          <a:xfrm>
            <a:off x="566928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实现方法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669280" y="3474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Jakes Doppler谱：滤波高斯噪声法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分数时延：interp1插值实现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慢衰落近似：一帧内信道不变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频率选择性：每子载波独立衰落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" y="3063240"/>
            <a:ext cx="4754880" cy="123444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" y="3063240"/>
            <a:ext cx="36576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Shape 30"/>
          <p:cNvSpPr/>
          <p:nvPr/>
        </p:nvSpPr>
        <p:spPr>
          <a:xfrm>
            <a:off x="457200" y="3063240"/>
            <a:ext cx="47548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信道特性总结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慢衰落：帧内信道恒定，可用块型导频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频率选择性：需要 OFDM + 频域均衡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5径 Rayleigh：无直射径，实际场景仿真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多普勒 fd=5.56 Hz：低速移动性弱</a:t>
            </a:r>
            <a:endParaRPr lang="en-US" sz="1000" dirty="0"/>
          </a:p>
        </p:txBody>
      </p:sp>
      <p:sp>
        <p:nvSpPr>
          <p:cNvPr id="36" name="Shape 33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接收端同步与信道估计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 + Frequency Sync + Channel Estimation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6576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时间同步（Time Sync）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方法：已知训练序列与接收信号互相关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相关峰值位置 → 符号起始位置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PN序列自相关特性好，峰值明显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精度：样本级别对齐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20624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频率同步（Freq Sync）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方法：CP自相关法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CP与IFFT尾部相同 → 相关峰值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相位差 → 频偏估计 Δf̂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补偿：时域乘复指数旋转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420624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005840"/>
            <a:ext cx="3931920" cy="36576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005840"/>
            <a:ext cx="36576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005840"/>
            <a:ext cx="39319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信道估计与均衡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块型导频估计（Block-type Pilot）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1874520"/>
            <a:ext cx="3383280" cy="457200"/>
          </a:xfrm>
          <a:prstGeom prst="rect">
            <a:avLst/>
          </a:prstGeom>
          <a:solidFill>
            <a:srgbClr val="132E50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Ĥ_k = Y_k / X_k   (ZF估计)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423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X_k = ±1 (BPSK已知导频)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覆盖全部 400个活跃子载波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慢衰落下，一帧使用同一估计值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154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频域均衡（ZF Equalization）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3474720"/>
            <a:ext cx="3383280" cy="411480"/>
          </a:xfrm>
          <a:prstGeom prst="rect">
            <a:avLst/>
          </a:prstGeom>
          <a:solidFill>
            <a:srgbClr val="132E5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X̂_k = Y_k / Ĥ_k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简单高效，但噪声放大在深衰落处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可升级为 MMSE均衡以改善性能</a:t>
            </a:r>
            <a:endParaRPr lang="en-US" sz="1000" dirty="0"/>
          </a:p>
        </p:txBody>
      </p:sp>
      <p:sp>
        <p:nvSpPr>
          <p:cNvPr id="27" name="Shape 25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接收端解码流程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从接收信号到BER统计的完整链路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011680" cy="25603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Signal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接收信号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545336" y="1307592"/>
            <a:ext cx="18288" cy="118872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426464"/>
            <a:ext cx="2011680" cy="2560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26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54480" y="1426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去除前缀8样本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45336" y="1682496"/>
            <a:ext cx="18288" cy="118872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801368"/>
            <a:ext cx="20116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01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54480" y="1801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512点FFT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545336" y="2057400"/>
            <a:ext cx="18288" cy="118872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176272"/>
            <a:ext cx="20116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5448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ZF均衡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545336" y="2432304"/>
            <a:ext cx="18288" cy="118872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551176"/>
            <a:ext cx="201168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551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Demodulate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54480" y="2551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硬判决解调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0" y="1051560"/>
            <a:ext cx="228600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10515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Deinterleave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15000" y="10515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反置换恢复顺序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05856" y="1307592"/>
            <a:ext cx="18288" cy="118872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1426464"/>
            <a:ext cx="2286000" cy="2560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1426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Viterbi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15000" y="1426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维特比译码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705856" y="1682496"/>
            <a:ext cx="18288" cy="118872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1801368"/>
            <a:ext cx="228600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18013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Check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15000" y="18013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校验过/失败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705856" y="2057400"/>
            <a:ext cx="18288" cy="118872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2176272"/>
            <a:ext cx="228600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21762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Stats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15000" y="21762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比特错误率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560320" y="2679192"/>
            <a:ext cx="2011680" cy="18288"/>
          </a:xfrm>
          <a:prstGeom prst="rect">
            <a:avLst/>
          </a:prstGeom>
          <a:solidFill>
            <a:srgbClr val="3D5A7F"/>
          </a:solidFill>
          <a:ln/>
        </p:spPr>
      </p:sp>
      <p:sp>
        <p:nvSpPr>
          <p:cNvPr id="41" name="Shape 39"/>
          <p:cNvSpPr/>
          <p:nvPr/>
        </p:nvSpPr>
        <p:spPr>
          <a:xfrm>
            <a:off x="6675120" y="1005840"/>
            <a:ext cx="2103120" cy="36576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1005840"/>
            <a:ext cx="36576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Shape 41"/>
          <p:cNvSpPr/>
          <p:nvPr/>
        </p:nvSpPr>
        <p:spPr>
          <a:xfrm>
            <a:off x="6675120" y="1005840"/>
            <a:ext cx="21031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关键技术点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58000" y="1417320"/>
            <a:ext cx="1737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FFT转换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时域→频域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ZF均衡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压缩信道影响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硬判决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最近星座点判决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反置换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恢复交织前顺序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维特比译码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最大似然序列估计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CRC校验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帧错误检测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BER统计</a:t>
            </a:r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总性能指标</a:t>
            </a:r>
            <a:endParaRPr lang="en-US" sz="800" dirty="0"/>
          </a:p>
        </p:txBody>
      </p:sp>
      <p:sp>
        <p:nvSpPr>
          <p:cNvPr id="46" name="Shape 44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"/>
            <a:ext cx="9144000" cy="704088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当前进度与待完成工作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 &amp; TODO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6576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6576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4206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已完成 (Completed)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1600200"/>
            <a:ext cx="2286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600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信源生成（均匀随机比特流）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984248"/>
            <a:ext cx="2286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84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1984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CRC-16编码（0x1021）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368296"/>
            <a:ext cx="2286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68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3682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卷积码编码（K=7, R=1/2）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752344"/>
            <a:ext cx="2286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52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7523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随机交织（rng(42)）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136392"/>
            <a:ext cx="2286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36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1363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符号调制（QPSK/16QAM/64QAM）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520440"/>
            <a:ext cx="2286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520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OFDM调制（IFFT + CP）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904488"/>
            <a:ext cx="22860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04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9044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VHF车载移动信道模型（5-path Rayleigh）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1005840"/>
            <a:ext cx="3931920" cy="3657600"/>
          </a:xfrm>
          <a:prstGeom prst="rect">
            <a:avLst/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1005840"/>
            <a:ext cx="36576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100584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待完成 (TODO)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120640" y="1600200"/>
            <a:ext cx="228600" cy="228600"/>
          </a:xfrm>
          <a:prstGeom prst="rect">
            <a:avLst/>
          </a:prstGeom>
          <a:solidFill>
            <a:srgbClr val="CBD5E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4068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接收端时间同步（互相关）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1984248"/>
            <a:ext cx="228600" cy="228600"/>
          </a:xfrm>
          <a:prstGeom prst="rect">
            <a:avLst/>
          </a:prstGeom>
          <a:solidFill>
            <a:srgbClr val="CBD5E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19842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1984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接收端频率同步（CP相关）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2368296"/>
            <a:ext cx="228600" cy="228600"/>
          </a:xfrm>
          <a:prstGeom prst="rect">
            <a:avLst/>
          </a:prstGeom>
          <a:solidFill>
            <a:srgbClr val="CBD5E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2368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23682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信道估计与频域均衡（ZF）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20640" y="2752344"/>
            <a:ext cx="228600" cy="228600"/>
          </a:xfrm>
          <a:prstGeom prst="rect">
            <a:avLst/>
          </a:prstGeom>
          <a:solidFill>
            <a:srgbClr val="CBD5E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2752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27523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解调 + 反置换 + 维特比译码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20640" y="3136392"/>
            <a:ext cx="228600" cy="228600"/>
          </a:xfrm>
          <a:prstGeom prst="rect">
            <a:avLst/>
          </a:prstGeom>
          <a:solidFill>
            <a:srgbClr val="CBD5E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136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40680" y="31363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CRC校验与BER统计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20640" y="3520440"/>
            <a:ext cx="228600" cy="228600"/>
          </a:xfrm>
          <a:prstGeom prst="rect">
            <a:avLst/>
          </a:prstGeom>
          <a:solidFill>
            <a:srgbClr val="CBD5E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3520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40680" y="3520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SNR-BER性能曲线绘制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20640" y="3904488"/>
            <a:ext cx="228600" cy="228600"/>
          </a:xfrm>
          <a:prstGeom prst="rect">
            <a:avLst/>
          </a:prstGeom>
          <a:solidFill>
            <a:srgbClr val="CBD5E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0" y="3904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40680" y="3904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用户界面 GUI</a:t>
            </a:r>
            <a:endParaRPr lang="en-US" sz="1000" dirty="0"/>
          </a:p>
        </p:txBody>
      </p:sp>
      <p:sp>
        <p:nvSpPr>
          <p:cNvPr id="56" name="Shape 54">
            <a:hlinkClick r:id="rId1" tooltip="" action="ppaction://hlinksldjump"/>
          </p:cNvPr>
          <p:cNvSpPr/>
          <p:nvPr/>
        </p:nvSpPr>
        <p:spPr>
          <a:xfrm>
            <a:off x="7406640" y="47091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BF0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06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返回总览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371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关键代码: OFDM调制 (IFFT + CP)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394960" cy="30906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303520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2563EB"/>
                </a:solidFill>
                <a:latin typeface="Consolas"/>
              </a:defRPr>
            </a:pPr>
            <a:r>
              <a:t>function tx_sym = ofdm_tx_symbol(data_syms, cfg)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 OFDM modulation: subcarrier mapping + IFFT + CP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   data_syms - 400 complex symbols (column)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   tx_sym    - 520 time-domain samples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freq = zeros(cfg.N_fft, 1);           % 512 bins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freq(cfg.idx_data1) = data_syms(1:200); % 1st half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freq(cfg.idx_data2) = data_syms(201:400);% 2nd half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time_sym = ifft(freq, 512) * sqrt(512);  % IFFT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tx_sym = [time_sym(end-7:end); time_sym];% prepend 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核心原理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1. 频域映射: 400个QAM符号</a:t>
            </a:r>
            <a:br/>
            <a:r>
              <a:t>    填入512个FFT bin中</a:t>
            </a:r>
            <a:br/>
            <a:r>
              <a:t>    DC、保护带、Nyquist置0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2. IFFT变换: 频域 → 时域</a:t>
            </a:r>
            <a:br/>
            <a:r>
              <a:t>    乘以√N保证功率归一化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3. 循环前缀(CP):</a:t>
            </a:r>
            <a:br/>
            <a:r>
              <a:t>    复制尾部8个样本到前面</a:t>
            </a:r>
            <a:br/>
            <a:r>
              <a:t>    8 μs &gt; 2 μs最大时延</a:t>
            </a:r>
            <a:br/>
            <a:r>
              <a:t>    消除多径ISI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4. 符号总长: 8+512=520样本</a:t>
            </a:r>
            <a:br/>
            <a:r>
              <a:t>    即520 μs @ 1 MHz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关键代码: 时间与频率同步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394960" cy="38587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30352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%% ===== Time Sync: Cross-Correlation =====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[corr, lag] = xcorr(rx_signal, cfg.train_tx);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[~, peak] = max(abs(corr));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frame_start = lag(peak) + 1;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%% ===== Freq Sync: CP Phase Difference =====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phase_acc = 0;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2563EB"/>
                </a:solidFill>
                <a:latin typeface="Consolas"/>
              </a:defRPr>
            </a:pPr>
            <a:r>
              <a:t>for s = 1:n_syms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cp   = rx(sym_start : sym_start+cp_len-1);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tail = rx(sym_start+N_fft : sym_start+sym_len-1);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phase_acc = phase_acc + sum(tail .* conj(cp));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2563EB"/>
                </a:solidFill>
                <a:latin typeface="Consolas"/>
              </a:defRPr>
            </a:pPr>
            <a:r>
              <a:t>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df = angle(phase_acc) / (2*pi * N_fft/fs);  % Hz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rx_corrected = rx .* exp(-1j*2*pi*df*t);    % compensate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同步原理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时间同步: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本地重建训练符号(rng=7)</a:t>
            </a:r>
            <a:br/>
            <a:r>
              <a:t>  与接收信号做互相关</a:t>
            </a:r>
            <a:br/>
            <a:r>
              <a:t>  峰值位置 = 帧起点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PN序列自相关好 → 尖峰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频率同步: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CP = IFFT尾部的拷贝</a:t>
            </a:r>
            <a:br/>
            <a:r>
              <a:t>  频偏使两者产生相位差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多符号累加抑制噪声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Δf = ∠(Σtail·cp*)/(2π·T)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乘以复指数补偿频偏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关键代码: 信道估计与均衡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394960" cy="4114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%% ===== LS Channel Estimation =====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 Pilot: known BPSK symbols (rng=13), ±1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Y_pilot = fft(rx_pilot_sym, 512) * sqrt(1/512);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Y_active = Y_pilot([idx_data1, idx_data2]); % 400 bins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H_est = Y_active ./ cfg.pilot_syms;  % LS: H = Y/X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%% ===== ZF Equalization =====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2563EB"/>
                </a:solidFill>
                <a:latin typeface="Consolas"/>
              </a:defRPr>
            </a:pPr>
            <a:r>
              <a:t>for s = 1:n_data_syms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Y_data = extract_data_subcarriers(rx_data_sym);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X_eq = Y_data ./ H_est;   % ZF: X = Y/H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bits = demodulate(X_eq, mod_type);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2563EB"/>
                </a:solidFill>
                <a:latin typeface="Consolas"/>
              </a:defRPr>
            </a:pPr>
            <a:r>
              <a:t>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%% Alternative: MMSE (needs noise variance sigma2)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 X_mmse = Y .* conj(H) ./ (abs(H).^2 + sigma2);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估计与均衡原理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LS信道估计: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导频是已知的BPSK ±1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Ĥ = Y_pilot / X_pilot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逐子载波除法，简单高效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块状导频: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1个OFDM符号 = 导频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假设帧内信道不变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适合慢衰落(fd=5.56Hz)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ZF均衡: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X̂ = Y / Ĥ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零强制，消除信道影响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缺点: 深衰落处噪声放大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MMSE: 考虑噪声方差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在低SNR下优于ZF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需要额外估计σ²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563EB"/>
                </a:solidFill>
              </a:defRPr>
            </a:pPr>
            <a:r>
              <a:t>关键代码: Viterbi译码与CRC校验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5394960" cy="43708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3035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%% ===== Viterbi Decoding =====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trellis = poly2trellis(7, [171 133]);  % same as TX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 Hard-decision Viterbi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decoded = vitdec(rx_coded_bits, trellis, ...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tblen, 'trunc', 'hard');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0B981"/>
                </a:solidFill>
                <a:latin typeface="Consolas"/>
              </a:defRPr>
            </a:pPr>
            <a:r>
              <a:t>%% ===== CRC-16 Verification =====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poly = [1 0 0 0 1 0 0 0 0 0 0 1 0 0 0 0 1];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2563EB"/>
                </a:solidFill>
                <a:latin typeface="Consolas"/>
              </a:defRPr>
            </a:pPr>
            <a:r>
              <a:t>for f = 1:n_frames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frame_data = decoded(frame_start : frame_start+1023);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rx_crc = decoded(frame_start+1024 : frame_start+1039);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computed_crc = crc_shift_reg(frame_data, poly);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2563EB"/>
                </a:solidFill>
                <a:latin typeface="Consolas"/>
              </a:defRPr>
            </a:pPr>
            <a:r>
              <a:t>    if all(rx_crc == computed_crc)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 frame_ok(f) = true;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2563EB"/>
                </a:solidFill>
                <a:latin typeface="Consolas"/>
              </a:defRPr>
            </a:pPr>
            <a:r>
              <a:t>    end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2563EB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译码与校验原理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173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Viterbi译码: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K=7, R=1/2, [171,133]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64状态网格搜索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最大似然序列估计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tblen: 回溯深度(5×K)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'trunc': 截断模式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CRC-16校验: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每帧1024+16 bits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重新计算CRC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与接收CRC比较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不匹配→帧错误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BER计算: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BER = 错误bit数/总bit数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FER = 错误帧数/总帧数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  遍历SNR绘制BER曲线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293B"/>
      </a:dk2>
      <a:lt2>
        <a:srgbClr val="F1F5F9"/>
      </a:lt2>
      <a:accent1>
        <a:srgbClr val="3B82F6"/>
      </a:accent1>
      <a:accent2>
        <a:srgbClr val="F59E0B"/>
      </a:accent2>
      <a:accent3>
        <a:srgbClr val="64748B"/>
      </a:accent3>
      <a:accent4>
        <a:srgbClr val="10B981"/>
      </a:accent4>
      <a:accent5>
        <a:srgbClr val="6366F1"/>
      </a:accent5>
      <a:accent6>
        <a:srgbClr val="EC489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VHF OFDM无线通信系统仿真</dc:title>
  <dc:subject>PptxGenJS Presentation</dc:subject>
  <dc:creator>Group 2</dc:creator>
  <cp:lastModifiedBy>Group 2</cp:lastModifiedBy>
  <cp:revision>1</cp:revision>
  <dcterms:created xsi:type="dcterms:W3CDTF">2026-05-25T10:38:17Z</dcterms:created>
  <dcterms:modified xsi:type="dcterms:W3CDTF">2026-05-25T10:38:17Z</dcterms:modified>
</cp:coreProperties>
</file>